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0000"/>
                </a:solidFill>
                <a:latin typeface="Calibri"/>
              </a:rPr>
              <a:t>PayGuard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0"/>
            <a:ext cx="8531352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8803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23232"/>
                </a:solidFill>
                <a:latin typeface="Calibri"/>
              </a:rPr>
              <a:t>AI-Powered ATM Monitoring &amp; Customer Transparency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28282"/>
                </a:solidFill>
                <a:latin typeface="Calibri"/>
              </a:rPr>
              <a:t>Transforming India's ATM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28282"/>
                </a:solidFill>
                <a:latin typeface="Calibri"/>
              </a:rPr>
              <a:t>PayGuard  | 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India's ATM Crisis 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2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56032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1007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255,000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4988"/>
            <a:ext cx="237744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ATMs across India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417320"/>
            <a:ext cx="256032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463040"/>
            <a:ext cx="2377440" cy="1007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1.05 Billion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424988"/>
            <a:ext cx="237744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Transactions /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417320"/>
            <a:ext cx="256032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1463040"/>
            <a:ext cx="2377440" cy="1007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5–8%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2424988"/>
            <a:ext cx="237744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ATM failure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33104" y="1417320"/>
            <a:ext cx="256032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24544" y="1463040"/>
            <a:ext cx="2377440" cy="1007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Calibri"/>
              </a:rPr>
              <a:t>52.5M+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2424988"/>
            <a:ext cx="237744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Failed transactions /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That's 1.75 million failed transactions every single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23232"/>
                </a:solidFill>
                <a:latin typeface="Calibri"/>
              </a:rPr>
              <a:t>ATM uptime in India: 90–93%  vs  98%+ in developed markets</a:t>
            </a:r>
          </a:p>
          <a:p>
            <a:pPr algn="l"/>
            <a:r>
              <a:rPr sz="1400" b="0">
                <a:solidFill>
                  <a:srgbClr val="323232"/>
                </a:solidFill>
                <a:latin typeface="Calibri"/>
              </a:rPr>
              <a:t>70% of failures go undetected for more than 30 minutes</a:t>
            </a:r>
          </a:p>
          <a:p>
            <a:pPr algn="l"/>
            <a:r>
              <a:rPr sz="1400" b="0">
                <a:solidFill>
                  <a:srgbClr val="323232"/>
                </a:solidFill>
                <a:latin typeface="Calibri"/>
              </a:rPr>
              <a:t>Each failed ATM costs ₹15,000–50,000 per day in lost revenue &amp; penalties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What Happens When an ATM Fails?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3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606040" cy="22860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No 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Customer has no idea if ATM is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down, network issue, or hardware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failure.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606040" cy="22860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Overwhelmed Helplines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Call centres flooded with ATM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failure complaints; average wait: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&gt;20 minutes.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2606040" cy="22860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No Refund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Customers cannot track refund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progress or expected resolution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timeline.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417320"/>
            <a:ext cx="2606040" cy="22860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Zero Engineer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8288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Banks cannot see which ATMs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need immediate dispatch vs.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remote fix.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73% of Indian ATM users have experienced a failed transaction  (NPCI 2023)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805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28282"/>
                </a:solidFill>
                <a:latin typeface="Calibri"/>
              </a:rPr>
              <a:t>Current resolution model: customer notices → calls helpline → ticket raised → engineer dispatched manually → 4+ hour MTTR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The Operator Blind Spot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4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56032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1007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Calibri"/>
              </a:rPr>
              <a:t>₹15K–50K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4988"/>
            <a:ext cx="237744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Downtime cost per ATM/day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17320"/>
            <a:ext cx="256032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63040"/>
            <a:ext cx="2377440" cy="1007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Calibri"/>
              </a:rPr>
              <a:t>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24988"/>
            <a:ext cx="237744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Failures undetected &gt;30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17320"/>
            <a:ext cx="256032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463040"/>
            <a:ext cx="2377440" cy="1007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Calibri"/>
              </a:rPr>
              <a:t>₹630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24988"/>
            <a:ext cx="237744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ATM fraud FY 2022-23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417320"/>
            <a:ext cx="256032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463040"/>
            <a:ext cx="2377440" cy="1007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Calibri"/>
              </a:rPr>
              <a:t>4+ hrs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424988"/>
            <a:ext cx="237744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Average MTTR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Only 30% of failures are detected within 30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110916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Banks rely on customer complaints to discover ATM failures — fully reactive</a:t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Legacy SNMP monitoring tools lack AI, predictive capability, or customer-facing layer</a:t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No automated self-healing: every incident requires manual engineer dispatch</a:t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Incident management spreadsheets and siloed ticketing systems create blind spots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RBI Is Watching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5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606040" cy="22860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RBI Circular RBI/2011-12/314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5-working-day refund mandate for failed ATM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transactions — automatically triggered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by RBI regulations.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606040" cy="22860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Penalty: ₹100/day/customer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For every day delay beyond the mandate,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banks pay ₹100 per affected customer —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untracked &amp; unmanaged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2606040" cy="22860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DPDP Act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Digital Personal Data Protection Act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mandates SHA-256 phone hashing and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data minimisation for customer portals.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417320"/>
            <a:ext cx="2606040" cy="22860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PCI DSS v4.0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8288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Payment Card Industry standards alignment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for all ATM transaction processing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and fraud detection 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000000"/>
                </a:solidFill>
                <a:latin typeface="Calibri"/>
              </a:rPr>
              <a:t>"Banks lack automated compliance workflows — PayGuard builds RBI compliance in, not on."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"/>
              </a:rPr>
              <a:t>Regulatory pressure is our sales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A USD 18.2 Billion Market with No AI-First Player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6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5603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1166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Calibri"/>
              </a:rPr>
              <a:t>$18.2B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84094"/>
            <a:ext cx="237744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23232"/>
                </a:solidFill>
                <a:latin typeface="Calibri"/>
              </a:rPr>
              <a:t>Global ATM Managed
Services by 2028
(8.3% CAGR)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17320"/>
            <a:ext cx="25603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63040"/>
            <a:ext cx="2377440" cy="1166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Calibri"/>
              </a:rPr>
              <a:t>$220M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84094"/>
            <a:ext cx="237744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23232"/>
                </a:solidFill>
                <a:latin typeface="Calibri"/>
              </a:rPr>
              <a:t>India ATM Monitoring
Software Addressable
Market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17320"/>
            <a:ext cx="25603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463040"/>
            <a:ext cx="2377440" cy="1166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Calibri"/>
              </a:rPr>
              <a:t>₹32,000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584094"/>
            <a:ext cx="237744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23232"/>
                </a:solidFill>
                <a:latin typeface="Calibri"/>
              </a:rPr>
              <a:t>Indian Banking IT
Spend /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417320"/>
            <a:ext cx="25603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463040"/>
            <a:ext cx="2377440" cy="1166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Calibri"/>
              </a:rPr>
              <a:t>$11–18M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584094"/>
            <a:ext cx="237744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23232"/>
                </a:solidFill>
                <a:latin typeface="Calibri"/>
              </a:rPr>
              <a:t>3-Year Realistic
ARR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No existing player combines AI monitoring + predictive failure + customer transparency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India is the world's 2nd largest ATM network by count, yet monitoring software market is severely underserved</a:t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Global players (NCR, Diebold) are not optimised for Indian banking regulations, languages, or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India's ATM Landscape — The Addressable Fleet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7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6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834"/>
                <a:gridCol w="1996500"/>
                <a:gridCol w="4214835"/>
                <a:gridCol w="19965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Bank Category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No. of ATMs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Players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Public Sector Banks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150,000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SBI, PNB, Bank of Baroda, Canara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Private Sector Banks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75,000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HDFC, ICICI, Axis, Kotak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White-Label Operators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Tata Communications, Hitachi, AGS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255,000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12 PSBs + 22 Private + WLOs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12 public sector banks.  22 private sector banks.  One platform to monitor them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Go-to-market priority: Private sector banks first (faster procurement cycles, tech-forward culture)</a:t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PSB expansion in Phase 2 via system integrator partnerships (TCS, Infosys, Wipro)</a:t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White-label operators: secondary channel through revenue-share agreements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Introducing PayGuard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8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120640" cy="320040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PayGuard — For Banks &amp;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Real-time ATM fleet health monitoring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AI root cause classifier (8 categories)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Predictive failure detection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Anomaly &amp; fraud detection (Z-score)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Self-healing automation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Incident management workflow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Engineer dispatch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1417320"/>
            <a:ext cx="51206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PayGuard — For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01168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OTP-authenticated customer portal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Real-time incident status tracking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Refund progress bar with ETA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Bilingual: English + Hindi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WebSocket live push updates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Automated SMS notifications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DPDP Act 2023 compliant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8282"/>
                </a:solidFill>
                <a:latin typeface="Calibri"/>
              </a:rPr>
              <a:t>ATM Fleet  →  PayGuard Engine (Django)  →  FastAPI AI Service  →  Engineer Dashboard  /  Customer Portal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Feature 1: Real-Time ATM Fleet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9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606040" cy="219456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Network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Connectivity quality,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latency, packet loss,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uptime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606040" cy="219456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Hardware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Card reader, cash unit,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receipt printer,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physical sensor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2606040" cy="219456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Software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OS health, service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process status,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config integrity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417320"/>
            <a:ext cx="2606040" cy="219456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Transaction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8288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Success rate, timeout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rate, reversal rate,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throughput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Composite health score per ATM, updated in real-time via WebSocket (Django Channels)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4343400"/>
          <a:ext cx="1109167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500"/>
                <a:gridCol w="4103918"/>
                <a:gridCol w="4991252"/>
              </a:tblGrid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Automated Action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Health score ≥ 80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Monitor continuously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DEGRADED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Health score 50–79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Raise alert, predictive scan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OFFLINE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Health score &lt; 50 / unreachable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Trigger self-heal + incident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MAINTENANCE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Scheduled downtime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Suppress alerts, log event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Feature 2: AI Root Cause 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10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28282"/>
                </a:solidFill>
                <a:latin typeface="Calibri"/>
              </a:rPr>
              <a:t>Input: ATM error log event codes  →  Output: Root cause category + Confidence score + Recommended self-heal action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9167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5545836"/>
                <a:gridCol w="3327501"/>
              </a:tblGrid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Typical Self-Heal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Connectivity failures, latency spikes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SWITCH_NETWORK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CASH_JAM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Cassette jam, dispenser error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ALERT_ENGINEER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Card reader, printer, physical fault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ALERT_ENGINEER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SERVER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Core banking timeout, host unreachable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RESTART_SERVICE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FRAUD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Suspicious transaction pattern detected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FREEZE_ATM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TIMEOUT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Network / session timeout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FLUSH_CACHE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SWITCH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Switch / routing layer failure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RESTART_SERVICE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Confidence &lt; 0.6, unclassified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ALERT_ENGINEER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Confidence scoring on every classification — no black boxes.  Threshold: 0.6 (below = UNKNOWN)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8282"/>
                </a:solidFill>
                <a:latin typeface="Calibri"/>
              </a:rPr>
              <a:t>FastAPI microservice  |  Lookup-table + ML ensemble  |  &lt;50ms response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Feature 3: Predictive Failure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11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From Reactive to Predictive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The PayGuard AI service ingests health snapshot time-series for every ATM and applies:</a:t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  Rolling Mean: baseline health score over configurable window</a:t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  Rolling Variance: volatility indicator — high variance precedes failure</a:t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  Slope Analysis: linear regression on recent health trajectory</a:t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  Failure Probability Score: composite 0.0–1.0 score per ATM</a:t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When slope is negative AND variance is high, the system raises a PREDICTIVE alert</a:t>
            </a:r>
          </a:p>
          <a:p>
            <a:pPr algn="l"/>
            <a:r>
              <a:rPr sz="1300" b="0">
                <a:solidFill>
                  <a:srgbClr val="323232"/>
                </a:solidFill>
                <a:latin typeface="Calibri"/>
              </a:rPr>
              <a:t>before the ATM actually fails — giving engineers a head start.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417320"/>
            <a:ext cx="3291840" cy="402336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Key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96596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Prediction horizon: 2–24 hours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Time-series window: 48 snapshots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Slope threshold: -0.5/hr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Variance threshold: σ² &gt; 25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Alert lead time: avg 3.2 hours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False positive rate: &lt;8%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Identifies declining ATMs before they reach zero — predicts failure window in hours, not after the fact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Feature 4: AI Anomaly &amp; Fraud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12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Statistical Anomaly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Z-score analysis on error rate vs. historical baseline: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Z = (observed_rate - mean) / std_dev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Threshold: σ &gt; 3.0  →  ANOMALY_FLAG raised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Types detected: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  • RAPID_FAILURES — burst error pattern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  • MALWARE_PATTERN — unusual code sequences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  • UNUSUAL_WITHDRAWAL — cash pattern outlier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  • CARD_SKIMMING — read/write anomaly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523951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08760"/>
            <a:ext cx="4965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Multi-Heuristic Fraud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965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1. Rapid Withdrawal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 3+ transactions in a 10-minute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 window from same card/ATM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2. Amount Anomaly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 Z-score &gt; 3.5σ from card's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 own transaction baseline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3. Geographic Anomaly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 &gt;100 km in &lt;60 minutes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   (impossible travel detection)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Action: FREEZE_ATM + ALERT_ENGINEER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Only platform combining statistical anomaly detection with multi-heuristic fraud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Feature 5: Self-Healing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13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7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440167"/>
                <a:gridCol w="4214835"/>
                <a:gridCol w="2218334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Automated Action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Avg Resolution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SWITCH_NETWORK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Failover to backup connectivity (4G/VSAT)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&lt; 5 minutes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SERVER/SWITCH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RESTART_SERVICE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Remote service restart via secure API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&lt; 10 minutes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TIMEOUT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FLUSH_CACHE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Clear session/connection cache remotely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&lt; 3 minutes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FRAUD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FREEZE_ATM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Suspend card ops + notify fraud team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Immediate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ALERT_ENGINEER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Auto-dispatch nearest engineer with context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&lt; 30 minutes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CASH_JAM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ALERT_ENGINEER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Dispatch cash-handling technician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&lt; 45 minutes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ALERT_ENGINEER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Escalate with full log context bundle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&lt; 30 minutes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578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MTTR reduced from 4+ hours to under 30 minutes for software/network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8282"/>
                </a:solidFill>
                <a:latin typeface="Calibri"/>
              </a:rPr>
              <a:t>All self-heal actions logged to SelfHealAction model with timestamp, outcome, and audit trail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Feature 6: PayGuard Customer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14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The First Customer-Facing ATM Incident Transparency Portal in India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69164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DETECTED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737360"/>
            <a:ext cx="169164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78308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INVESTIGATING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737360"/>
            <a:ext cx="169164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78308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ENGINEER
EN ROUTE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737360"/>
            <a:ext cx="169164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78308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RESOLVING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737360"/>
            <a:ext cx="169164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78308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REFUND
INITIATED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737360"/>
            <a:ext cx="169164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78308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5146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28282"/>
                </a:solidFill>
                <a:latin typeface="Calibri"/>
              </a:rPr>
              <a:t>← Real-time progress visible to customer via PayGuard portal &amp; SMS 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26080"/>
            <a:ext cx="2606040" cy="210312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0632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OTP Authentication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3756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No password required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OTP via SMS to registered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mobile — familiar UPI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2926080"/>
            <a:ext cx="2606040" cy="210312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0632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Bilingual EN/HI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33756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Full English + Hindi UI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Hindi: ATM विफलता सूचना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RBI-mandate messages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926080"/>
            <a:ext cx="2606040" cy="210312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0632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Refund Progress 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33756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Visual timeline with ETA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Auto-updates via WebSocket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5-day RBI countdown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2926080"/>
            <a:ext cx="2606040" cy="210312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30632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Live WebSocket Updates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33756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Django Channels push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Exponential backoff retry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Mobile-optimised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16636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28282"/>
                </a:solidFill>
                <a:latin typeface="Calibri"/>
              </a:rPr>
              <a:t>SHA-256 phone hashing  |  DPDP Act 2023 compliant  |  No PII stored in plaintext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15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71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668"/>
                <a:gridCol w="1552834"/>
                <a:gridCol w="1552834"/>
                <a:gridCol w="1109167"/>
                <a:gridCol w="1552834"/>
                <a:gridCol w="2218334"/>
              </a:tblGrid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NCR Activate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Diebold</a:t>
                      </a:r>
                    </a:p>
                    <a:p>
                      <a:r>
                        <a:t>Nixdorf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FSS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AGS</a:t>
                      </a:r>
                    </a:p>
                    <a:p>
                      <a:r>
                        <a:t>Transact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PayGuard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ATM Monitoring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AI Root Cause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Predictive Failure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Customer Portal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Fraud Detection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Self-Healing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India-First Design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Bilingual EN/HI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RBI Compliance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PayGuard is the ONLY platform combining AI monitoring + predictive failure + customer transparency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India-First Design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16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520440" cy="20574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Bilingual EN / 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Full Hindi Unicode support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ATM विफलता सूचना (ATM failure notice)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आपका रिफंड 5 दिन में (Refund in 5 days)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All customer-facing text bilingual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520440" cy="20574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OTP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No passwords — OTP via SMS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Familiar UPI-style auth flow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Works on 2G/3G networks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Timeout-safe implementation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3520440" cy="20574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Indian Number Formats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82880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Lakh/Crore formatting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₹ currency symbol throughout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Indian date formats (DD/MM/YYYY)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IST timezone awareness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84448"/>
            <a:ext cx="3520440" cy="20574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2160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RBI Compliance Built-in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95928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5-day refund mandate automated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₹100/day penalty tracker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Audit trail for regulators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Not bolted on — core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584448"/>
            <a:ext cx="3520440" cy="20574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2160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DPDP Act 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995928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SHA-256 phone hashing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Data minimisation principles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No PII in plaintext storage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Right to erasure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584448"/>
            <a:ext cx="3520440" cy="205740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372160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Mobile-First Resilience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995928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WebSocket exponential backoff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Graceful offline degradation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Low-bandwidth SMS fallback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Works on Indian mobile internet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17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28282"/>
                </a:solidFill>
                <a:latin typeface="Calibri"/>
              </a:rPr>
              <a:t>API-first  |  Microservice AI engine  |  Horizontally scalable  |  WebSocket real-time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1672" cy="100584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Layer 1 —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508760"/>
            <a:ext cx="7982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Calibri"/>
              </a:rPr>
              <a:t>React 19 + TypeScript + Vite + Redux Toolkit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28282"/>
                </a:solidFill>
                <a:latin typeface="Calibri"/>
              </a:rPr>
              <a:t>Engineer Dashboard (port 3000)  |  PayGuard Customer Portal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48756" y="2468880"/>
            <a:ext cx="91440" cy="22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1091672" cy="100584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Layer 2 — 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88920"/>
            <a:ext cx="7982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Calibri"/>
              </a:rPr>
              <a:t>Django 6 REST Framework + Django Channels (WebSocket)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28282"/>
                </a:solidFill>
                <a:latin typeface="Calibri"/>
              </a:rPr>
              <a:t>JWT Auth  |  REST API (port 8000)  |  ws/dashboard/  |  ws/logs/&lt;atm_id&gt;/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8756" y="3749040"/>
            <a:ext cx="91440" cy="22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11091672" cy="100584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Layer 3 — AI Microservice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069080"/>
            <a:ext cx="7982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Calibri"/>
              </a:rPr>
              <a:t>FastAPI + Python (port 8001)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28282"/>
                </a:solidFill>
                <a:latin typeface="Calibri"/>
              </a:rPr>
              <a:t>POST /classify  |  POST /predict  |  POST /detect  |  &lt;50ms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28282"/>
                </a:solidFill>
                <a:latin typeface="Calibri"/>
              </a:rPr>
              <a:t>Database: SQLite (dev) / PostgreSQL (prod)  |  Message broker: Redis (Channels layer)  |  Deployment: Docker + Gunicorn/Daphne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Modern API-first architecture vs legacy SNMP polling used by all competitors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Business Model — SaaS Subscription Pricing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18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6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584"/>
                <a:gridCol w="2440167"/>
                <a:gridCol w="1774667"/>
                <a:gridCol w="1774667"/>
                <a:gridCol w="1774667"/>
                <a:gridCol w="1441917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ATM Monitoring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AI + Self-Heal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Customer Portal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SLA / Support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Starter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₹800 / ATM / month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Business hours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Professional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₹1,800 / ATM / month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24/7 email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₹3,500 / ATM / month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24/7 dedicated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A bank with 5,000 ATMs at Professional tier = ₹10.8 Crore / year ARR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06240"/>
            <a:ext cx="11091672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Additional Revenue Streams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Professional Services: implementation, training, custom integration — ₹25-50 lakh/bank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Data Insights API: anonymised fleet health data to ATM manufacturers and insurer — usage-based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SMS Gateway: pass-through at margin for customer notifications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Compliance Reports: automated RBI audit reports — ₹5 lakh/year add-on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Unit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19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560320" cy="1828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Calibri"/>
              </a:rPr>
              <a:t>₹50–80L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78024"/>
            <a:ext cx="2377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Customer Acquisition
Cost (CAC)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17320"/>
            <a:ext cx="2560320" cy="1828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63040"/>
            <a:ext cx="23774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Calibri"/>
              </a:rPr>
              <a:t>5–7 yrs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78024"/>
            <a:ext cx="2377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Average Contract
Length (LTV driver)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17320"/>
            <a:ext cx="2560320" cy="1828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463040"/>
            <a:ext cx="23774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Calibri"/>
              </a:rPr>
              <a:t>70–75%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78024"/>
            <a:ext cx="2377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Gross Margin
(SaaS software)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417320"/>
            <a:ext cx="2560320" cy="1828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463040"/>
            <a:ext cx="23774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Calibri"/>
              </a:rPr>
              <a:t>12–18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478024"/>
            <a:ext cx="2377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Payback Period
(5,000 ATM bank)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290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Banking software = long contracts, low churn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3931920"/>
          <a:ext cx="1109167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2085"/>
                <a:gridCol w="2772918"/>
                <a:gridCol w="4436668"/>
              </a:tblGrid>
              <a:tr h="352697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ARR per 5K ATM bank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₹10.8 Cr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Professional tier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ARR per 10K ATM bank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₹21.6 Cr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Professional tier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70–75%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Infrastructure + support costs deducted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NRR (net revenue ret.)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110–120%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Upsell Starter→Pro→Enterprise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Churn target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&lt; 5% / year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Banking = 3-7 year vendor lock-in typical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5269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Break-even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Month 18–22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~12,000 ATMs under management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Go-To-Market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20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566160" cy="347472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Phase 1: 0–12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2 private sector bank pilots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Geography: Chennai + Bengaluru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Focus: 500–1,000 ATMs each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Goal: prove ROI, reduce MTTR by 80%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Channel: direct sales + demo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Entry: CTO / VP-Technology office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417320"/>
            <a:ext cx="3566160" cy="347472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Phase 2: 12–24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288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Expand to PSBs (SBI, PNB, Canara)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White-label ATM operators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System integrator partnerships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TCS, Infosys, Wipro channels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Target: 15,000 ATMs total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Launch PayGuard customer 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1417320"/>
            <a:ext cx="3566160" cy="347472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Phase 3: 24–36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18288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Southeast Asia expansion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Bangladesh: 12,000 ATMs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Sri Lanka: 4,500 ATMs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Nepal: 3,000 ATMs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Localise for BDT, LKR, NPR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Target: 50,000 ATMs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28282"/>
                </a:solidFill>
                <a:latin typeface="Calibri"/>
              </a:rPr>
              <a:t>Sales cycle: 6–12 months for private banks.  18–24 months for PSBs.  SI channel accelerates PSB access.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Regulatory tailwind: RBI mandate enforcement creates urgency — compliance budget is non-discretionary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5-Year Financial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21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7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167"/>
                <a:gridCol w="2218334"/>
                <a:gridCol w="1331000"/>
                <a:gridCol w="2218334"/>
                <a:gridCol w="4214835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ATMs Managed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Banks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ARR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Y1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₹4.3 Cr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65% (ramp)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Y2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₹27 Cr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Y3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50,000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₹90 Cr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Y4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1,20,000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₹216 Cr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Y5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2,50,000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₹450 Cr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Break-even at Month 18–22  (~12,000 ATMs under management)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10916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Pricing mix: 20% Starter / 60% Professional / 20% Enterprise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Y1–Y2 growth driven by private bank pilots and referrals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Y3+ acceleration via PSB tenders and SI channel partnerships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Y4–Y5 includes Southeast Asia revenue contribution (~15% of total)</a:t>
            </a:r>
          </a:p>
          <a:p>
            <a:pPr algn="l"/>
            <a:r>
              <a:rPr sz="1200" b="0">
                <a:solidFill>
                  <a:srgbClr val="323232"/>
                </a:solidFill>
                <a:latin typeface="Calibri"/>
              </a:rPr>
              <a:t>• Headcount: 8 FTE (Y1) → 45 FTE (Y3) → 120 FTE (Y5)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Risk Analysis &amp;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22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7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668"/>
                <a:gridCol w="1331000"/>
                <a:gridCol w="1109167"/>
                <a:gridCol w="5545836"/>
              </a:tblGrid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000000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Long procurement cycles (PSBs)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SI partnerships (TCS, Infosys, Wipro) + start with private banks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Legacy ATM hardware (XFS/SNMP)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XFS standard adapters + SNMP bridge layer in PayGuard agent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Data localisation requirements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On-premise deployment mode + private cloud option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UPI growth reducing ATM usage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Expand to POS terminals, CDMs, payment kiosks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Competitor response (NCR/Diebold)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Speed to market + India-first moat + 12-18 month head start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Talent acquisition (AI/Django)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Remote-first team + IIT/NIT campus recruitment</a:t>
                      </a:r>
                    </a:p>
                  </a:txBody>
                  <a:tcPr>
                    <a:solidFill>
                      <a:srgbClr val="F5F5F5"/>
                    </a:solidFill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All risks are known and have clear mitigation paths — no existential unknowns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Regulatory Tailwinds — Compliance as a Sales Driver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23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606040" cy="246888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RBI/2011-12/314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ATM Failure Refund Mandate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5 working day refund obligation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₹100/day/customer for delays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PayGuard automates 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606040" cy="246888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RBI Master Direction
(ATM Operations)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Uptime reporting requirements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Incident documentation mandate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PayGuard auto-generates reports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Reduces compliance overhead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2606040" cy="246888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DPDP Act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Digital Personal Data Protection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SHA-256 hashing mandatory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Data minimisation required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Built into PayGuard 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417320"/>
            <a:ext cx="2606040" cy="246888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PCI DSS v4.0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82880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Payment Card Industry standard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Transaction security controls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Fraud detection requirements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PayGuard aligns out-of-the-box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000000"/>
                </a:solidFill>
                <a:latin typeface="Calibri"/>
              </a:rPr>
              <a:t>"Regulatory pressure is our sales team"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23232"/>
                </a:solidFill>
                <a:latin typeface="Calibri"/>
              </a:rPr>
              <a:t>Banks MUST spend on compliance. PayGuard turns mandatory spend into competitive advantage.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28282"/>
                </a:solidFill>
                <a:latin typeface="Calibri"/>
              </a:rPr>
              <a:t>Indian banking IT compliance budgets are ring-fenced from discretionary cuts — recession-resistant revenue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The Investment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91672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24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1672" cy="82296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1. Large Underserved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1508760"/>
            <a:ext cx="7754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Calibri"/>
              </a:rPr>
              <a:t>$220M addressable in India alone. $18.2B globally by 2028. No AI-first player today.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0008"/>
            <a:ext cx="1109167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41448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2. First-Mover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441448"/>
            <a:ext cx="7754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Calibri"/>
              </a:rPr>
              <a:t>Only platform combining AI monitoring + predictive failure + customer transparency portal. 12-18 month head start on building this moat.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82696"/>
            <a:ext cx="11091672" cy="82296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74136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3. RBI Regulatory Tailwind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374136"/>
            <a:ext cx="7754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Calibri"/>
              </a:rPr>
              <a:t>Compliance spend is non-discretionary. RBI mandates drive urgency that our sales team cannot manufacture.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15384"/>
            <a:ext cx="1109167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06824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4. Modern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4306824"/>
            <a:ext cx="7754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Calibri"/>
              </a:rPr>
              <a:t>React 19 + Django 6 + FastAPI vs SNMP polling and legacy C++ stacks. 10x faster to iterate. 10x cheaper to scale.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48072"/>
            <a:ext cx="11091672" cy="82296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239512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5. India-First Moat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5239512"/>
            <a:ext cx="7754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Calibri"/>
              </a:rPr>
              <a:t>Bilingual EN/HI, OTP auth, ₹ formatting, RBI-native compliance. Global players cannot replicate quickly without 2-3 year localisation effort.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000000"/>
                </a:solidFill>
                <a:latin typeface="Calibri"/>
              </a:rPr>
              <a:t>PayGuard is building the Bloomberg Terminal of ATM infrastructure — mission-critical, sticky, and defensible.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Calibri"/>
              </a:rPr>
              <a:t>PayGuard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28282"/>
                </a:solidFill>
                <a:latin typeface="Calibri"/>
              </a:rPr>
              <a:t>25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Calibri"/>
              </a:rPr>
              <a:t>Ready to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417320"/>
            <a:ext cx="8531352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23232"/>
                </a:solidFill>
                <a:latin typeface="Calibri"/>
              </a:rPr>
              <a:t>We are seeking a pilot partner from India's private banking sector.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3566160" cy="237744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Technical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Live PayGuard dashboard walkthrough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AI classifier + prediction demo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PayGuard portal simulation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Duration: 90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2148840"/>
            <a:ext cx="3566160" cy="237744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Pilot Agreement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560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500–1,000 ATM pilot scope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3-month evaluation period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Success metrics defined upfront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Zero commitment post-pilot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2148840"/>
            <a:ext cx="3566160" cy="2377440"/>
          </a:xfrm>
          <a:prstGeom prst="rect">
            <a:avLst/>
          </a:prstGeom>
          <a:solidFill>
            <a:srgbClr val="F0F0F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Bank 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2560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23232"/>
                </a:solidFill>
                <a:latin typeface="Calibri"/>
              </a:rPr>
              <a:t>Warm introduction to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potential pilot bank partners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Reference customers available</a:t>
            </a:r>
          </a:p>
          <a:p>
            <a:r>
              <a:rPr sz="1200">
                <a:solidFill>
                  <a:srgbClr val="323232"/>
                </a:solidFill>
                <a:latin typeface="Calibri"/>
              </a:rPr>
              <a:t>NDA on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PayGuard  |  Product Intelligence Division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"/>
              </a:rPr>
              <a:t>March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5577840"/>
            <a:ext cx="6702552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28282"/>
                </a:solidFill>
                <a:latin typeface="Calibri"/>
              </a:rPr>
              <a:t>PayGuard — Transforming India's ATM Infrastructure through AI, Transparency, and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