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1280160"/>
            <a:ext cx="11329416" cy="1280160"/>
          </a:xfrm>
          <a:prstGeom prst="rect">
            <a:avLst/>
          </a:prstGeom>
          <a:noFill/>
        </p:spPr>
        <p:txBody>
          <a:bodyPr wrap="square">
            <a:spAutoFit/>
          </a:bodyPr>
          <a:lstStyle/>
          <a:p>
            <a:pPr algn="ctr"/>
            <a:r>
              <a:rPr sz="7200" b="1" i="0">
                <a:solidFill>
                  <a:srgbClr val="000000"/>
                </a:solidFill>
                <a:latin typeface="Calibri"/>
              </a:rPr>
              <a:t>PayGuard</a:t>
            </a:r>
          </a:p>
        </p:txBody>
      </p:sp>
      <p:sp>
        <p:nvSpPr>
          <p:cNvPr id="3" name="TextBox 2"/>
          <p:cNvSpPr txBox="1"/>
          <p:nvPr/>
        </p:nvSpPr>
        <p:spPr>
          <a:xfrm>
            <a:off x="429768" y="2606040"/>
            <a:ext cx="11329416" cy="548640"/>
          </a:xfrm>
          <a:prstGeom prst="rect">
            <a:avLst/>
          </a:prstGeom>
          <a:noFill/>
        </p:spPr>
        <p:txBody>
          <a:bodyPr wrap="square">
            <a:spAutoFit/>
          </a:bodyPr>
          <a:lstStyle/>
          <a:p>
            <a:pPr algn="ctr"/>
            <a:r>
              <a:rPr sz="2200" b="0" i="0">
                <a:solidFill>
                  <a:srgbClr val="808080"/>
                </a:solidFill>
                <a:latin typeface="Calibri"/>
              </a:rPr>
              <a:t>Real-Time ATM Monitoring + Customer Transparency Platform</a:t>
            </a:r>
          </a:p>
        </p:txBody>
      </p:sp>
      <p:sp>
        <p:nvSpPr>
          <p:cNvPr id="4" name="TextBox 3"/>
          <p:cNvSpPr txBox="1"/>
          <p:nvPr/>
        </p:nvSpPr>
        <p:spPr>
          <a:xfrm>
            <a:off x="429768" y="3246120"/>
            <a:ext cx="11329416" cy="457200"/>
          </a:xfrm>
          <a:prstGeom prst="rect">
            <a:avLst/>
          </a:prstGeom>
          <a:noFill/>
        </p:spPr>
        <p:txBody>
          <a:bodyPr wrap="square">
            <a:spAutoFit/>
          </a:bodyPr>
          <a:lstStyle/>
          <a:p>
            <a:pPr algn="ctr"/>
            <a:r>
              <a:rPr sz="1800" b="0" i="1">
                <a:solidFill>
                  <a:srgbClr val="000000"/>
                </a:solidFill>
                <a:latin typeface="Calibri"/>
              </a:rPr>
              <a:t>"When your ATM fails, you shouldn't be left in the dark."</a:t>
            </a:r>
          </a:p>
        </p:txBody>
      </p:sp>
      <p:sp>
        <p:nvSpPr>
          <p:cNvPr id="5" name="TextBox 4"/>
          <p:cNvSpPr txBox="1"/>
          <p:nvPr/>
        </p:nvSpPr>
        <p:spPr>
          <a:xfrm>
            <a:off x="429768" y="3840480"/>
            <a:ext cx="11329416" cy="365760"/>
          </a:xfrm>
          <a:prstGeom prst="rect">
            <a:avLst/>
          </a:prstGeom>
          <a:noFill/>
        </p:spPr>
        <p:txBody>
          <a:bodyPr wrap="square">
            <a:spAutoFit/>
          </a:bodyPr>
          <a:lstStyle/>
          <a:p>
            <a:pPr algn="ctr"/>
            <a:r>
              <a:rPr sz="1400" b="0" i="0">
                <a:solidFill>
                  <a:srgbClr val="808080"/>
                </a:solidFill>
                <a:latin typeface="Calibri"/>
              </a:rPr>
              <a:t>Hackathon Submission  |  March 2026</a:t>
            </a:r>
          </a:p>
        </p:txBody>
      </p:sp>
      <p:sp>
        <p:nvSpPr>
          <p:cNvPr id="6" name="Rectangle 5"/>
          <p:cNvSpPr/>
          <p:nvPr/>
        </p:nvSpPr>
        <p:spPr>
          <a:xfrm>
            <a:off x="429768" y="4434840"/>
            <a:ext cx="11329416" cy="438912"/>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9768" y="4453128"/>
            <a:ext cx="11329416" cy="402336"/>
          </a:xfrm>
          <a:prstGeom prst="rect">
            <a:avLst/>
          </a:prstGeom>
          <a:noFill/>
        </p:spPr>
        <p:txBody>
          <a:bodyPr wrap="square">
            <a:spAutoFit/>
          </a:bodyPr>
          <a:lstStyle/>
          <a:p>
            <a:pPr algn="ctr"/>
            <a:r>
              <a:rPr sz="1300" b="1" i="0">
                <a:solidFill>
                  <a:srgbClr val="000000"/>
                </a:solidFill>
                <a:latin typeface="Calibri"/>
              </a:rPr>
              <a:t>Django 6    |    React 19    |    FastAPI    |    Django Channels    |    Redis</a:t>
            </a:r>
          </a:p>
        </p:txBody>
      </p:sp>
      <p:sp>
        <p:nvSpPr>
          <p:cNvPr id="8" name="Rectangle 7"/>
          <p:cNvSpPr/>
          <p:nvPr/>
        </p:nvSpPr>
        <p:spPr>
          <a:xfrm>
            <a:off x="429768" y="4370832"/>
            <a:ext cx="11329416"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228600"/>
            <a:ext cx="11329416" cy="502920"/>
          </a:xfrm>
          <a:prstGeom prst="rect">
            <a:avLst/>
          </a:prstGeom>
          <a:noFill/>
        </p:spPr>
        <p:txBody>
          <a:bodyPr wrap="square">
            <a:spAutoFit/>
          </a:bodyPr>
          <a:lstStyle/>
          <a:p>
            <a:pPr algn="l"/>
            <a:r>
              <a:rPr sz="3000" b="1" i="0">
                <a:solidFill>
                  <a:srgbClr val="000000"/>
                </a:solidFill>
                <a:latin typeface="Calibri"/>
              </a:rPr>
              <a:t>52.5 Million Failed ATM Transactions. Every Month.</a:t>
            </a:r>
          </a:p>
        </p:txBody>
      </p:sp>
      <p:sp>
        <p:nvSpPr>
          <p:cNvPr id="3" name="Rectangle 2"/>
          <p:cNvSpPr/>
          <p:nvPr/>
        </p:nvSpPr>
        <p:spPr>
          <a:xfrm>
            <a:off x="429768" y="777240"/>
            <a:ext cx="11329416"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9768" y="1005840"/>
            <a:ext cx="2651760" cy="182880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8" y="1143000"/>
            <a:ext cx="2468880" cy="950976"/>
          </a:xfrm>
          <a:prstGeom prst="rect">
            <a:avLst/>
          </a:prstGeom>
          <a:noFill/>
        </p:spPr>
        <p:txBody>
          <a:bodyPr wrap="square">
            <a:spAutoFit/>
          </a:bodyPr>
          <a:lstStyle/>
          <a:p>
            <a:pPr algn="ctr"/>
            <a:r>
              <a:rPr sz="3400" b="1" i="0">
                <a:solidFill>
                  <a:srgbClr val="000000"/>
                </a:solidFill>
                <a:latin typeface="Calibri"/>
              </a:rPr>
              <a:t>255,000</a:t>
            </a:r>
          </a:p>
        </p:txBody>
      </p:sp>
      <p:sp>
        <p:nvSpPr>
          <p:cNvPr id="6" name="TextBox 5"/>
          <p:cNvSpPr txBox="1"/>
          <p:nvPr/>
        </p:nvSpPr>
        <p:spPr>
          <a:xfrm>
            <a:off x="521208" y="1956816"/>
            <a:ext cx="2468880" cy="768096"/>
          </a:xfrm>
          <a:prstGeom prst="rect">
            <a:avLst/>
          </a:prstGeom>
          <a:noFill/>
        </p:spPr>
        <p:txBody>
          <a:bodyPr wrap="square">
            <a:spAutoFit/>
          </a:bodyPr>
          <a:lstStyle/>
          <a:p>
            <a:pPr algn="ctr"/>
            <a:r>
              <a:rPr sz="1300" b="0" i="0">
                <a:solidFill>
                  <a:srgbClr val="808080"/>
                </a:solidFill>
                <a:latin typeface="Calibri"/>
              </a:rPr>
              <a:t>ATMs in India's network</a:t>
            </a:r>
          </a:p>
        </p:txBody>
      </p:sp>
      <p:sp>
        <p:nvSpPr>
          <p:cNvPr id="7" name="Rectangle 6"/>
          <p:cNvSpPr/>
          <p:nvPr/>
        </p:nvSpPr>
        <p:spPr>
          <a:xfrm>
            <a:off x="3337560" y="1005840"/>
            <a:ext cx="2651760" cy="182880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9000" y="1143000"/>
            <a:ext cx="2468880" cy="950976"/>
          </a:xfrm>
          <a:prstGeom prst="rect">
            <a:avLst/>
          </a:prstGeom>
          <a:noFill/>
        </p:spPr>
        <p:txBody>
          <a:bodyPr wrap="square">
            <a:spAutoFit/>
          </a:bodyPr>
          <a:lstStyle/>
          <a:p>
            <a:pPr algn="ctr"/>
            <a:r>
              <a:rPr sz="3400" b="1" i="0">
                <a:solidFill>
                  <a:srgbClr val="000000"/>
                </a:solidFill>
                <a:latin typeface="Calibri"/>
              </a:rPr>
              <a:t>1.05B/month</a:t>
            </a:r>
          </a:p>
        </p:txBody>
      </p:sp>
      <p:sp>
        <p:nvSpPr>
          <p:cNvPr id="9" name="TextBox 8"/>
          <p:cNvSpPr txBox="1"/>
          <p:nvPr/>
        </p:nvSpPr>
        <p:spPr>
          <a:xfrm>
            <a:off x="3429000" y="1956816"/>
            <a:ext cx="2468880" cy="768096"/>
          </a:xfrm>
          <a:prstGeom prst="rect">
            <a:avLst/>
          </a:prstGeom>
          <a:noFill/>
        </p:spPr>
        <p:txBody>
          <a:bodyPr wrap="square">
            <a:spAutoFit/>
          </a:bodyPr>
          <a:lstStyle/>
          <a:p>
            <a:pPr algn="ctr"/>
            <a:r>
              <a:rPr sz="1300" b="0" i="0">
                <a:solidFill>
                  <a:srgbClr val="808080"/>
                </a:solidFill>
                <a:latin typeface="Calibri"/>
              </a:rPr>
              <a:t>Transactions processed</a:t>
            </a:r>
          </a:p>
        </p:txBody>
      </p:sp>
      <p:sp>
        <p:nvSpPr>
          <p:cNvPr id="10" name="Rectangle 9"/>
          <p:cNvSpPr/>
          <p:nvPr/>
        </p:nvSpPr>
        <p:spPr>
          <a:xfrm>
            <a:off x="429768" y="3090672"/>
            <a:ext cx="2651760" cy="182880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 y="3227832"/>
            <a:ext cx="2468880" cy="950976"/>
          </a:xfrm>
          <a:prstGeom prst="rect">
            <a:avLst/>
          </a:prstGeom>
          <a:noFill/>
        </p:spPr>
        <p:txBody>
          <a:bodyPr wrap="square">
            <a:spAutoFit/>
          </a:bodyPr>
          <a:lstStyle/>
          <a:p>
            <a:pPr algn="ctr"/>
            <a:r>
              <a:rPr sz="3400" b="1" i="0">
                <a:solidFill>
                  <a:srgbClr val="000000"/>
                </a:solidFill>
                <a:latin typeface="Calibri"/>
              </a:rPr>
              <a:t>5–8%</a:t>
            </a:r>
          </a:p>
        </p:txBody>
      </p:sp>
      <p:sp>
        <p:nvSpPr>
          <p:cNvPr id="12" name="TextBox 11"/>
          <p:cNvSpPr txBox="1"/>
          <p:nvPr/>
        </p:nvSpPr>
        <p:spPr>
          <a:xfrm>
            <a:off x="521208" y="4041648"/>
            <a:ext cx="2468880" cy="768096"/>
          </a:xfrm>
          <a:prstGeom prst="rect">
            <a:avLst/>
          </a:prstGeom>
          <a:noFill/>
        </p:spPr>
        <p:txBody>
          <a:bodyPr wrap="square">
            <a:spAutoFit/>
          </a:bodyPr>
          <a:lstStyle/>
          <a:p>
            <a:pPr algn="ctr"/>
            <a:r>
              <a:rPr sz="1300" b="0" i="0">
                <a:solidFill>
                  <a:srgbClr val="808080"/>
                </a:solidFill>
                <a:latin typeface="Calibri"/>
              </a:rPr>
              <a:t>Failure rate = 52.5–84M failures/month</a:t>
            </a:r>
          </a:p>
        </p:txBody>
      </p:sp>
      <p:sp>
        <p:nvSpPr>
          <p:cNvPr id="13" name="Rectangle 12"/>
          <p:cNvSpPr/>
          <p:nvPr/>
        </p:nvSpPr>
        <p:spPr>
          <a:xfrm>
            <a:off x="3337560" y="3090672"/>
            <a:ext cx="2651760" cy="182880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29000" y="3227832"/>
            <a:ext cx="2468880" cy="950976"/>
          </a:xfrm>
          <a:prstGeom prst="rect">
            <a:avLst/>
          </a:prstGeom>
          <a:noFill/>
        </p:spPr>
        <p:txBody>
          <a:bodyPr wrap="square">
            <a:spAutoFit/>
          </a:bodyPr>
          <a:lstStyle/>
          <a:p>
            <a:pPr algn="ctr"/>
            <a:r>
              <a:rPr sz="3400" b="1" i="0">
                <a:solidFill>
                  <a:srgbClr val="000000"/>
                </a:solidFill>
                <a:latin typeface="Calibri"/>
              </a:rPr>
              <a:t>70%</a:t>
            </a:r>
          </a:p>
        </p:txBody>
      </p:sp>
      <p:sp>
        <p:nvSpPr>
          <p:cNvPr id="15" name="TextBox 14"/>
          <p:cNvSpPr txBox="1"/>
          <p:nvPr/>
        </p:nvSpPr>
        <p:spPr>
          <a:xfrm>
            <a:off x="3429000" y="4041648"/>
            <a:ext cx="2468880" cy="768096"/>
          </a:xfrm>
          <a:prstGeom prst="rect">
            <a:avLst/>
          </a:prstGeom>
          <a:noFill/>
        </p:spPr>
        <p:txBody>
          <a:bodyPr wrap="square">
            <a:spAutoFit/>
          </a:bodyPr>
          <a:lstStyle/>
          <a:p>
            <a:pPr algn="ctr"/>
            <a:r>
              <a:rPr sz="1300" b="0" i="0">
                <a:solidFill>
                  <a:srgbClr val="808080"/>
                </a:solidFill>
                <a:latin typeface="Calibri"/>
              </a:rPr>
              <a:t>Failures undetected for &gt;30 minutes</a:t>
            </a:r>
          </a:p>
        </p:txBody>
      </p:sp>
      <p:sp>
        <p:nvSpPr>
          <p:cNvPr id="16" name="Rectangle 15"/>
          <p:cNvSpPr/>
          <p:nvPr/>
        </p:nvSpPr>
        <p:spPr>
          <a:xfrm>
            <a:off x="6336792" y="1005840"/>
            <a:ext cx="5422392" cy="3913632"/>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3952" y="1143000"/>
            <a:ext cx="5148072" cy="3639312"/>
          </a:xfrm>
          <a:prstGeom prst="rect">
            <a:avLst/>
          </a:prstGeom>
          <a:noFill/>
        </p:spPr>
        <p:txBody>
          <a:bodyPr wrap="square">
            <a:spAutoFit/>
          </a:bodyPr>
          <a:lstStyle/>
          <a:p>
            <a:pPr algn="l"/>
            <a:r>
              <a:rPr sz="1300" b="0" i="0">
                <a:solidFill>
                  <a:srgbClr val="000000"/>
                </a:solidFill>
                <a:latin typeface="Calibri"/>
              </a:rPr>
              <a:t>ATM Uptime — India vs World
India today:   90–93%
Developed markets:  98%+
That 5–8% gap costs customers
millions of failed transactions
and hours of uncertainty daily.
Rs. 630 crore in ATM fraud
reported in FY 2022-23 (RBI)</a:t>
            </a:r>
          </a:p>
        </p:txBody>
      </p:sp>
      <p:sp>
        <p:nvSpPr>
          <p:cNvPr id="18" name="Rectangle 17"/>
          <p:cNvSpPr/>
          <p:nvPr/>
        </p:nvSpPr>
        <p:spPr>
          <a:xfrm>
            <a:off x="429768" y="6400800"/>
            <a:ext cx="11329416" cy="32004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 y="6400800"/>
            <a:ext cx="11329416" cy="320040"/>
          </a:xfrm>
          <a:prstGeom prst="rect">
            <a:avLst/>
          </a:prstGeom>
          <a:noFill/>
        </p:spPr>
        <p:txBody>
          <a:bodyPr wrap="square">
            <a:spAutoFit/>
          </a:bodyPr>
          <a:lstStyle/>
          <a:p>
            <a:pPr algn="ctr"/>
            <a:r>
              <a:rPr sz="1000" b="0" i="0">
                <a:solidFill>
                  <a:srgbClr val="000000"/>
                </a:solidFill>
                <a:latin typeface="Calibri"/>
              </a:rPr>
              <a:t>ATM uptime in India: 90–93% vs 98%+ in developed markets  |  Source: RBI, NPCI 2023</a:t>
            </a:r>
          </a:p>
        </p:txBody>
      </p:sp>
      <p:sp>
        <p:nvSpPr>
          <p:cNvPr id="20" name="TextBox 19"/>
          <p:cNvSpPr txBox="1"/>
          <p:nvPr/>
        </p:nvSpPr>
        <p:spPr>
          <a:xfrm>
            <a:off x="11183112" y="6537960"/>
            <a:ext cx="914400" cy="274320"/>
          </a:xfrm>
          <a:prstGeom prst="rect">
            <a:avLst/>
          </a:prstGeom>
          <a:noFill/>
        </p:spPr>
        <p:txBody>
          <a:bodyPr wrap="square">
            <a:spAutoFit/>
          </a:bodyPr>
          <a:lstStyle/>
          <a:p>
            <a:pPr algn="r"/>
            <a:r>
              <a:rPr sz="1000" b="0" i="0">
                <a:solidFill>
                  <a:srgbClr val="808080"/>
                </a:solidFill>
                <a:latin typeface="Calibri"/>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228600"/>
            <a:ext cx="11329416" cy="502920"/>
          </a:xfrm>
          <a:prstGeom prst="rect">
            <a:avLst/>
          </a:prstGeom>
          <a:noFill/>
        </p:spPr>
        <p:txBody>
          <a:bodyPr wrap="square">
            <a:spAutoFit/>
          </a:bodyPr>
          <a:lstStyle/>
          <a:p>
            <a:pPr algn="l"/>
            <a:r>
              <a:rPr sz="3000" b="1" i="0">
                <a:solidFill>
                  <a:srgbClr val="000000"/>
                </a:solidFill>
                <a:latin typeface="Calibri"/>
              </a:rPr>
              <a:t>What Happens When Your ATM Transaction Fails?</a:t>
            </a:r>
          </a:p>
        </p:txBody>
      </p:sp>
      <p:sp>
        <p:nvSpPr>
          <p:cNvPr id="3" name="Rectangle 2"/>
          <p:cNvSpPr/>
          <p:nvPr/>
        </p:nvSpPr>
        <p:spPr>
          <a:xfrm>
            <a:off x="429768" y="777240"/>
            <a:ext cx="11329416"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960120"/>
            <a:ext cx="11329416" cy="594360"/>
          </a:xfrm>
          <a:prstGeom prst="rect">
            <a:avLst/>
          </a:prstGeom>
          <a:noFill/>
        </p:spPr>
        <p:txBody>
          <a:bodyPr wrap="square">
            <a:spAutoFit/>
          </a:bodyPr>
          <a:lstStyle/>
          <a:p>
            <a:pPr algn="ctr"/>
            <a:r>
              <a:rPr sz="2200" b="1" i="0">
                <a:solidFill>
                  <a:srgbClr val="000000"/>
                </a:solidFill>
                <a:latin typeface="Calibri"/>
              </a:rPr>
              <a:t>Your money is gone. Your card is stuck. The screen is blank.</a:t>
            </a:r>
          </a:p>
        </p:txBody>
      </p:sp>
      <p:sp>
        <p:nvSpPr>
          <p:cNvPr id="5" name="Rectangle 4"/>
          <p:cNvSpPr/>
          <p:nvPr/>
        </p:nvSpPr>
        <p:spPr>
          <a:xfrm>
            <a:off x="429768" y="1691640"/>
            <a:ext cx="2695194" cy="228600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9496" y="1783080"/>
            <a:ext cx="2475738" cy="347472"/>
          </a:xfrm>
          <a:prstGeom prst="rect">
            <a:avLst/>
          </a:prstGeom>
          <a:noFill/>
        </p:spPr>
        <p:txBody>
          <a:bodyPr wrap="square">
            <a:spAutoFit/>
          </a:bodyPr>
          <a:lstStyle/>
          <a:p>
            <a:pPr algn="l"/>
            <a:r>
              <a:rPr sz="1400" b="1" i="0">
                <a:solidFill>
                  <a:srgbClr val="000000"/>
                </a:solidFill>
                <a:latin typeface="Calibri"/>
              </a:rPr>
              <a:t>No real-time status</a:t>
            </a:r>
          </a:p>
        </p:txBody>
      </p:sp>
      <p:sp>
        <p:nvSpPr>
          <p:cNvPr id="7" name="TextBox 6"/>
          <p:cNvSpPr txBox="1"/>
          <p:nvPr/>
        </p:nvSpPr>
        <p:spPr>
          <a:xfrm>
            <a:off x="539496" y="2130552"/>
            <a:ext cx="2475738" cy="1755648"/>
          </a:xfrm>
          <a:prstGeom prst="rect">
            <a:avLst/>
          </a:prstGeom>
          <a:noFill/>
        </p:spPr>
        <p:txBody>
          <a:bodyPr wrap="square">
            <a:spAutoFit/>
          </a:bodyPr>
          <a:lstStyle/>
          <a:p>
            <a:pPr algn="l"/>
            <a:r>
              <a:rPr sz="1200" b="0" i="0">
                <a:solidFill>
                  <a:srgbClr val="000000"/>
                </a:solidFill>
                <a:latin typeface="Calibri"/>
              </a:rPr>
              <a:t>Is my money actually debited?</a:t>
            </a:r>
          </a:p>
        </p:txBody>
      </p:sp>
      <p:sp>
        <p:nvSpPr>
          <p:cNvPr id="8" name="Rectangle 7"/>
          <p:cNvSpPr/>
          <p:nvPr/>
        </p:nvSpPr>
        <p:spPr>
          <a:xfrm>
            <a:off x="3307842" y="1691640"/>
            <a:ext cx="2695194" cy="228600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17570" y="1783080"/>
            <a:ext cx="2475738" cy="347472"/>
          </a:xfrm>
          <a:prstGeom prst="rect">
            <a:avLst/>
          </a:prstGeom>
          <a:noFill/>
        </p:spPr>
        <p:txBody>
          <a:bodyPr wrap="square">
            <a:spAutoFit/>
          </a:bodyPr>
          <a:lstStyle/>
          <a:p>
            <a:pPr algn="l"/>
            <a:r>
              <a:rPr sz="1400" b="1" i="0">
                <a:solidFill>
                  <a:srgbClr val="000000"/>
                </a:solidFill>
                <a:latin typeface="Calibri"/>
              </a:rPr>
              <a:t>No refund tracking</a:t>
            </a:r>
          </a:p>
        </p:txBody>
      </p:sp>
      <p:sp>
        <p:nvSpPr>
          <p:cNvPr id="10" name="TextBox 9"/>
          <p:cNvSpPr txBox="1"/>
          <p:nvPr/>
        </p:nvSpPr>
        <p:spPr>
          <a:xfrm>
            <a:off x="3417570" y="2130552"/>
            <a:ext cx="2475738" cy="1755648"/>
          </a:xfrm>
          <a:prstGeom prst="rect">
            <a:avLst/>
          </a:prstGeom>
          <a:noFill/>
        </p:spPr>
        <p:txBody>
          <a:bodyPr wrap="square">
            <a:spAutoFit/>
          </a:bodyPr>
          <a:lstStyle/>
          <a:p>
            <a:pPr algn="l"/>
            <a:r>
              <a:rPr sz="1200" b="0" i="0">
                <a:solidFill>
                  <a:srgbClr val="000000"/>
                </a:solidFill>
                <a:latin typeface="Calibri"/>
              </a:rPr>
              <a:t>When will I get my money back?</a:t>
            </a:r>
          </a:p>
        </p:txBody>
      </p:sp>
      <p:sp>
        <p:nvSpPr>
          <p:cNvPr id="11" name="Rectangle 10"/>
          <p:cNvSpPr/>
          <p:nvPr/>
        </p:nvSpPr>
        <p:spPr>
          <a:xfrm>
            <a:off x="6185916" y="1691640"/>
            <a:ext cx="2695194" cy="228600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5644" y="1783080"/>
            <a:ext cx="2475738" cy="347472"/>
          </a:xfrm>
          <a:prstGeom prst="rect">
            <a:avLst/>
          </a:prstGeom>
          <a:noFill/>
        </p:spPr>
        <p:txBody>
          <a:bodyPr wrap="square">
            <a:spAutoFit/>
          </a:bodyPr>
          <a:lstStyle/>
          <a:p>
            <a:pPr algn="l"/>
            <a:r>
              <a:rPr sz="1400" b="1" i="0">
                <a:solidFill>
                  <a:srgbClr val="000000"/>
                </a:solidFill>
                <a:latin typeface="Calibri"/>
              </a:rPr>
              <a:t>No engineer visibility</a:t>
            </a:r>
          </a:p>
        </p:txBody>
      </p:sp>
      <p:sp>
        <p:nvSpPr>
          <p:cNvPr id="13" name="TextBox 12"/>
          <p:cNvSpPr txBox="1"/>
          <p:nvPr/>
        </p:nvSpPr>
        <p:spPr>
          <a:xfrm>
            <a:off x="6295644" y="2130552"/>
            <a:ext cx="2475738" cy="1755648"/>
          </a:xfrm>
          <a:prstGeom prst="rect">
            <a:avLst/>
          </a:prstGeom>
          <a:noFill/>
        </p:spPr>
        <p:txBody>
          <a:bodyPr wrap="square">
            <a:spAutoFit/>
          </a:bodyPr>
          <a:lstStyle/>
          <a:p>
            <a:pPr algn="l"/>
            <a:r>
              <a:rPr sz="1200" b="0" i="0">
                <a:solidFill>
                  <a:srgbClr val="000000"/>
                </a:solidFill>
                <a:latin typeface="Calibri"/>
              </a:rPr>
              <a:t>Is anyone even fixing this?</a:t>
            </a:r>
          </a:p>
        </p:txBody>
      </p:sp>
      <p:sp>
        <p:nvSpPr>
          <p:cNvPr id="14" name="Rectangle 13"/>
          <p:cNvSpPr/>
          <p:nvPr/>
        </p:nvSpPr>
        <p:spPr>
          <a:xfrm>
            <a:off x="9063990" y="1691640"/>
            <a:ext cx="2695194" cy="228600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73718" y="1783080"/>
            <a:ext cx="2475738" cy="347472"/>
          </a:xfrm>
          <a:prstGeom prst="rect">
            <a:avLst/>
          </a:prstGeom>
          <a:noFill/>
        </p:spPr>
        <p:txBody>
          <a:bodyPr wrap="square">
            <a:spAutoFit/>
          </a:bodyPr>
          <a:lstStyle/>
          <a:p>
            <a:pPr algn="l"/>
            <a:r>
              <a:rPr sz="1400" b="1" i="0">
                <a:solidFill>
                  <a:srgbClr val="000000"/>
                </a:solidFill>
                <a:latin typeface="Calibri"/>
              </a:rPr>
              <a:t>Helpline: 45-min wait</a:t>
            </a:r>
          </a:p>
        </p:txBody>
      </p:sp>
      <p:sp>
        <p:nvSpPr>
          <p:cNvPr id="16" name="TextBox 15"/>
          <p:cNvSpPr txBox="1"/>
          <p:nvPr/>
        </p:nvSpPr>
        <p:spPr>
          <a:xfrm>
            <a:off x="9173718" y="2130552"/>
            <a:ext cx="2475738" cy="1755648"/>
          </a:xfrm>
          <a:prstGeom prst="rect">
            <a:avLst/>
          </a:prstGeom>
          <a:noFill/>
        </p:spPr>
        <p:txBody>
          <a:bodyPr wrap="square">
            <a:spAutoFit/>
          </a:bodyPr>
          <a:lstStyle/>
          <a:p>
            <a:pPr algn="l"/>
            <a:r>
              <a:rPr sz="1200" b="0" i="0">
                <a:solidFill>
                  <a:srgbClr val="000000"/>
                </a:solidFill>
                <a:latin typeface="Calibri"/>
              </a:rPr>
              <a:t>The only option available today</a:t>
            </a:r>
          </a:p>
        </p:txBody>
      </p:sp>
      <p:sp>
        <p:nvSpPr>
          <p:cNvPr id="17" name="Rectangle 16"/>
          <p:cNvSpPr/>
          <p:nvPr/>
        </p:nvSpPr>
        <p:spPr>
          <a:xfrm>
            <a:off x="429768" y="6400800"/>
            <a:ext cx="11329416" cy="32004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 y="6400800"/>
            <a:ext cx="11329416" cy="320040"/>
          </a:xfrm>
          <a:prstGeom prst="rect">
            <a:avLst/>
          </a:prstGeom>
          <a:noFill/>
        </p:spPr>
        <p:txBody>
          <a:bodyPr wrap="square">
            <a:spAutoFit/>
          </a:bodyPr>
          <a:lstStyle/>
          <a:p>
            <a:pPr algn="ctr"/>
            <a:r>
              <a:rPr sz="1000" b="0" i="0">
                <a:solidFill>
                  <a:srgbClr val="000000"/>
                </a:solidFill>
                <a:latin typeface="Calibri"/>
              </a:rPr>
              <a:t>73% of Indian ATM users have experienced a failed transaction  (NPCI 2023)</a:t>
            </a:r>
          </a:p>
        </p:txBody>
      </p:sp>
      <p:sp>
        <p:nvSpPr>
          <p:cNvPr id="19" name="TextBox 18"/>
          <p:cNvSpPr txBox="1"/>
          <p:nvPr/>
        </p:nvSpPr>
        <p:spPr>
          <a:xfrm>
            <a:off x="11183112" y="6537960"/>
            <a:ext cx="914400" cy="274320"/>
          </a:xfrm>
          <a:prstGeom prst="rect">
            <a:avLst/>
          </a:prstGeom>
          <a:noFill/>
        </p:spPr>
        <p:txBody>
          <a:bodyPr wrap="square">
            <a:spAutoFit/>
          </a:bodyPr>
          <a:lstStyle/>
          <a:p>
            <a:pPr algn="r"/>
            <a:r>
              <a:rPr sz="1000" b="0" i="0">
                <a:solidFill>
                  <a:srgbClr val="808080"/>
                </a:solidFill>
                <a:latin typeface="Calibri"/>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228600"/>
            <a:ext cx="11329416" cy="502920"/>
          </a:xfrm>
          <a:prstGeom prst="rect">
            <a:avLst/>
          </a:prstGeom>
          <a:noFill/>
        </p:spPr>
        <p:txBody>
          <a:bodyPr wrap="square">
            <a:spAutoFit/>
          </a:bodyPr>
          <a:lstStyle/>
          <a:p>
            <a:pPr algn="l"/>
            <a:r>
              <a:rPr sz="3000" b="1" i="0">
                <a:solidFill>
                  <a:srgbClr val="000000"/>
                </a:solidFill>
                <a:latin typeface="Calibri"/>
              </a:rPr>
              <a:t>PayGuard: End-to-End ATM Intelligence</a:t>
            </a:r>
          </a:p>
        </p:txBody>
      </p:sp>
      <p:sp>
        <p:nvSpPr>
          <p:cNvPr id="3" name="Rectangle 2"/>
          <p:cNvSpPr/>
          <p:nvPr/>
        </p:nvSpPr>
        <p:spPr>
          <a:xfrm>
            <a:off x="429768" y="777240"/>
            <a:ext cx="11329416"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9768" y="960120"/>
            <a:ext cx="5481828" cy="438912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9496" y="1051560"/>
            <a:ext cx="5262372" cy="411480"/>
          </a:xfrm>
          <a:prstGeom prst="rect">
            <a:avLst/>
          </a:prstGeom>
          <a:noFill/>
        </p:spPr>
        <p:txBody>
          <a:bodyPr wrap="square">
            <a:spAutoFit/>
          </a:bodyPr>
          <a:lstStyle/>
          <a:p>
            <a:pPr algn="l"/>
            <a:r>
              <a:rPr sz="1500" b="1" i="0">
                <a:solidFill>
                  <a:srgbClr val="000000"/>
                </a:solidFill>
                <a:latin typeface="Calibri"/>
              </a:rPr>
              <a:t>For Bank Operators — PULSE Engine</a:t>
            </a:r>
          </a:p>
        </p:txBody>
      </p:sp>
      <p:sp>
        <p:nvSpPr>
          <p:cNvPr id="6" name="TextBox 5"/>
          <p:cNvSpPr txBox="1"/>
          <p:nvPr/>
        </p:nvSpPr>
        <p:spPr>
          <a:xfrm>
            <a:off x="539496" y="1554480"/>
            <a:ext cx="5262372" cy="3657600"/>
          </a:xfrm>
          <a:prstGeom prst="rect">
            <a:avLst/>
          </a:prstGeom>
          <a:noFill/>
        </p:spPr>
        <p:txBody>
          <a:bodyPr wrap="square">
            <a:spAutoFit/>
          </a:bodyPr>
          <a:lstStyle/>
          <a:p>
            <a:pPr algn="l"/>
            <a:r>
              <a:rPr sz="1400" b="0" i="0">
                <a:solidFill>
                  <a:srgbClr val="000000"/>
                </a:solidFill>
                <a:latin typeface="Calibri"/>
              </a:rPr>
              <a:t>  Real-time fleet monitoring
  AI root cause classification
  Predictive failure detection
  Autonomous self-healing
  Fraud detection engine
  Incident management &amp; audit log</a:t>
            </a:r>
          </a:p>
        </p:txBody>
      </p:sp>
      <p:sp>
        <p:nvSpPr>
          <p:cNvPr id="7" name="Rectangle 6"/>
          <p:cNvSpPr/>
          <p:nvPr/>
        </p:nvSpPr>
        <p:spPr>
          <a:xfrm>
            <a:off x="6277356" y="960120"/>
            <a:ext cx="5481828" cy="438912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7084" y="1051560"/>
            <a:ext cx="5262372" cy="411480"/>
          </a:xfrm>
          <a:prstGeom prst="rect">
            <a:avLst/>
          </a:prstGeom>
          <a:noFill/>
        </p:spPr>
        <p:txBody>
          <a:bodyPr wrap="square">
            <a:spAutoFit/>
          </a:bodyPr>
          <a:lstStyle/>
          <a:p>
            <a:pPr algn="l"/>
            <a:r>
              <a:rPr sz="1500" b="1" i="0">
                <a:solidFill>
                  <a:srgbClr val="000000"/>
                </a:solidFill>
                <a:latin typeface="Calibri"/>
              </a:rPr>
              <a:t>For Customers — PayGuard Portal</a:t>
            </a:r>
          </a:p>
        </p:txBody>
      </p:sp>
      <p:sp>
        <p:nvSpPr>
          <p:cNvPr id="9" name="TextBox 8"/>
          <p:cNvSpPr txBox="1"/>
          <p:nvPr/>
        </p:nvSpPr>
        <p:spPr>
          <a:xfrm>
            <a:off x="6387084" y="1554480"/>
            <a:ext cx="5262372" cy="3657600"/>
          </a:xfrm>
          <a:prstGeom prst="rect">
            <a:avLst/>
          </a:prstGeom>
          <a:noFill/>
        </p:spPr>
        <p:txBody>
          <a:bodyPr wrap="square">
            <a:spAutoFit/>
          </a:bodyPr>
          <a:lstStyle/>
          <a:p>
            <a:pPr algn="l"/>
            <a:r>
              <a:rPr sz="1400" b="0" i="0">
                <a:solidFill>
                  <a:srgbClr val="000000"/>
                </a:solidFill>
                <a:latin typeface="Calibri"/>
              </a:rPr>
              <a:t>  Real-time failed transaction status
  Refund tracking with ETA
  OTP login (no password / no app)
  Bilingual English + Hindi
  Live WebSocket updates
  RBI compliance messaging baked in</a:t>
            </a:r>
          </a:p>
        </p:txBody>
      </p:sp>
      <p:sp>
        <p:nvSpPr>
          <p:cNvPr id="10" name="Rectangle 9"/>
          <p:cNvSpPr/>
          <p:nvPr/>
        </p:nvSpPr>
        <p:spPr>
          <a:xfrm>
            <a:off x="429768" y="6400800"/>
            <a:ext cx="11329416" cy="32004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 y="6400800"/>
            <a:ext cx="11329416" cy="320040"/>
          </a:xfrm>
          <a:prstGeom prst="rect">
            <a:avLst/>
          </a:prstGeom>
          <a:noFill/>
        </p:spPr>
        <p:txBody>
          <a:bodyPr wrap="square">
            <a:spAutoFit/>
          </a:bodyPr>
          <a:lstStyle/>
          <a:p>
            <a:pPr algn="ctr"/>
            <a:r>
              <a:rPr sz="1000" b="0" i="0">
                <a:solidFill>
                  <a:srgbClr val="000000"/>
                </a:solidFill>
                <a:latin typeface="Calibri"/>
              </a:rPr>
              <a:t>Built in one hackathon. Production-ready architecture.</a:t>
            </a:r>
          </a:p>
        </p:txBody>
      </p:sp>
      <p:sp>
        <p:nvSpPr>
          <p:cNvPr id="12" name="TextBox 11"/>
          <p:cNvSpPr txBox="1"/>
          <p:nvPr/>
        </p:nvSpPr>
        <p:spPr>
          <a:xfrm>
            <a:off x="11183112" y="6537960"/>
            <a:ext cx="914400" cy="274320"/>
          </a:xfrm>
          <a:prstGeom prst="rect">
            <a:avLst/>
          </a:prstGeom>
          <a:noFill/>
        </p:spPr>
        <p:txBody>
          <a:bodyPr wrap="square">
            <a:spAutoFit/>
          </a:bodyPr>
          <a:lstStyle/>
          <a:p>
            <a:pPr algn="r"/>
            <a:r>
              <a:rPr sz="1000" b="0" i="0">
                <a:solidFill>
                  <a:srgbClr val="808080"/>
                </a:solidFill>
                <a:latin typeface="Calibri"/>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228600"/>
            <a:ext cx="11329416" cy="502920"/>
          </a:xfrm>
          <a:prstGeom prst="rect">
            <a:avLst/>
          </a:prstGeom>
          <a:noFill/>
        </p:spPr>
        <p:txBody>
          <a:bodyPr wrap="square">
            <a:spAutoFit/>
          </a:bodyPr>
          <a:lstStyle/>
          <a:p>
            <a:pPr algn="l"/>
            <a:r>
              <a:rPr sz="3000" b="1" i="0">
                <a:solidFill>
                  <a:srgbClr val="000000"/>
                </a:solidFill>
                <a:latin typeface="Calibri"/>
              </a:rPr>
              <a:t>Three-Service Architecture</a:t>
            </a:r>
          </a:p>
        </p:txBody>
      </p:sp>
      <p:sp>
        <p:nvSpPr>
          <p:cNvPr id="3" name="Rectangle 2"/>
          <p:cNvSpPr/>
          <p:nvPr/>
        </p:nvSpPr>
        <p:spPr>
          <a:xfrm>
            <a:off x="429768" y="777240"/>
            <a:ext cx="11329416"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579876" y="960120"/>
            <a:ext cx="5029200" cy="822960"/>
          </a:xfrm>
          <a:prstGeom prst="rect">
            <a:avLst/>
          </a:prstGeom>
          <a:solidFill>
            <a:srgbClr val="F0F0F0"/>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89604" y="1005840"/>
            <a:ext cx="4809744" cy="731520"/>
          </a:xfrm>
          <a:prstGeom prst="rect">
            <a:avLst/>
          </a:prstGeom>
          <a:noFill/>
        </p:spPr>
        <p:txBody>
          <a:bodyPr wrap="square">
            <a:spAutoFit/>
          </a:bodyPr>
          <a:lstStyle/>
          <a:p>
            <a:pPr algn="ctr"/>
            <a:r>
              <a:rPr sz="1300" b="0" i="0">
                <a:solidFill>
                  <a:srgbClr val="000000"/>
                </a:solidFill>
                <a:latin typeface="Calibri"/>
              </a:rPr>
              <a:t>React 19 Frontend
Dashboard + Customer Portal  (TypeScript + Vite + Redux)</a:t>
            </a:r>
          </a:p>
        </p:txBody>
      </p:sp>
      <p:sp>
        <p:nvSpPr>
          <p:cNvPr id="6" name="Rectangle 5"/>
          <p:cNvSpPr/>
          <p:nvPr/>
        </p:nvSpPr>
        <p:spPr>
          <a:xfrm>
            <a:off x="6043676" y="1783080"/>
            <a:ext cx="101600" cy="3474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80836" y="1828800"/>
            <a:ext cx="1371600" cy="274320"/>
          </a:xfrm>
          <a:prstGeom prst="rect">
            <a:avLst/>
          </a:prstGeom>
          <a:noFill/>
        </p:spPr>
        <p:txBody>
          <a:bodyPr wrap="square">
            <a:spAutoFit/>
          </a:bodyPr>
          <a:lstStyle/>
          <a:p>
            <a:pPr algn="l"/>
            <a:r>
              <a:rPr sz="1000" b="0" i="0">
                <a:solidFill>
                  <a:srgbClr val="808080"/>
                </a:solidFill>
                <a:latin typeface="Calibri"/>
              </a:rPr>
              <a:t>REST / WebSocket</a:t>
            </a:r>
          </a:p>
        </p:txBody>
      </p:sp>
      <p:sp>
        <p:nvSpPr>
          <p:cNvPr id="8" name="Rectangle 7"/>
          <p:cNvSpPr/>
          <p:nvPr/>
        </p:nvSpPr>
        <p:spPr>
          <a:xfrm>
            <a:off x="2665476" y="2130552"/>
            <a:ext cx="6858000" cy="1280160"/>
          </a:xfrm>
          <a:prstGeom prst="rect">
            <a:avLst/>
          </a:prstGeom>
          <a:solidFill>
            <a:srgbClr val="F0F0F0"/>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02636" y="2221992"/>
            <a:ext cx="6583680" cy="1143000"/>
          </a:xfrm>
          <a:prstGeom prst="rect">
            <a:avLst/>
          </a:prstGeom>
          <a:noFill/>
        </p:spPr>
        <p:txBody>
          <a:bodyPr wrap="square">
            <a:spAutoFit/>
          </a:bodyPr>
          <a:lstStyle/>
          <a:p>
            <a:pPr algn="ctr"/>
            <a:r>
              <a:rPr sz="1300" b="0" i="0">
                <a:solidFill>
                  <a:srgbClr val="000000"/>
                </a:solidFill>
                <a:latin typeface="Calibri"/>
              </a:rPr>
              <a:t>Django 6 REST API + Django Channels  (port 8000)
40+ REST endpoints  |  Django Channels WebSocket  |  SQLite + 16 data models
JWT authentication  |  Redis channel layer  |  Celery-ready async views</a:t>
            </a:r>
          </a:p>
        </p:txBody>
      </p:sp>
      <p:sp>
        <p:nvSpPr>
          <p:cNvPr id="10" name="Rectangle 9"/>
          <p:cNvSpPr/>
          <p:nvPr/>
        </p:nvSpPr>
        <p:spPr>
          <a:xfrm>
            <a:off x="6043676" y="3410712"/>
            <a:ext cx="101600" cy="3474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0836" y="3456432"/>
            <a:ext cx="1097280" cy="274320"/>
          </a:xfrm>
          <a:prstGeom prst="rect">
            <a:avLst/>
          </a:prstGeom>
          <a:noFill/>
        </p:spPr>
        <p:txBody>
          <a:bodyPr wrap="square">
            <a:spAutoFit/>
          </a:bodyPr>
          <a:lstStyle/>
          <a:p>
            <a:pPr algn="l"/>
            <a:r>
              <a:rPr sz="1000" b="0" i="0">
                <a:solidFill>
                  <a:srgbClr val="808080"/>
                </a:solidFill>
                <a:latin typeface="Calibri"/>
              </a:rPr>
              <a:t>HTTP proxy</a:t>
            </a:r>
          </a:p>
        </p:txBody>
      </p:sp>
      <p:sp>
        <p:nvSpPr>
          <p:cNvPr id="12" name="Rectangle 11"/>
          <p:cNvSpPr/>
          <p:nvPr/>
        </p:nvSpPr>
        <p:spPr>
          <a:xfrm>
            <a:off x="2665476" y="3758184"/>
            <a:ext cx="6858000" cy="1280160"/>
          </a:xfrm>
          <a:prstGeom prst="rect">
            <a:avLst/>
          </a:prstGeom>
          <a:solidFill>
            <a:srgbClr val="F0F0F0"/>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02636" y="3849624"/>
            <a:ext cx="6583680" cy="1143000"/>
          </a:xfrm>
          <a:prstGeom prst="rect">
            <a:avLst/>
          </a:prstGeom>
          <a:noFill/>
        </p:spPr>
        <p:txBody>
          <a:bodyPr wrap="square">
            <a:spAutoFit/>
          </a:bodyPr>
          <a:lstStyle/>
          <a:p>
            <a:pPr algn="ctr"/>
            <a:r>
              <a:rPr sz="1300" b="0" i="0">
                <a:solidFill>
                  <a:srgbClr val="000000"/>
                </a:solidFill>
                <a:latin typeface="Calibri"/>
              </a:rPr>
              <a:t>FastAPI AI Microservice  (port 8001)
Failure Classifier  |  Predictive Model  |  Anomaly Detector  |  Fraud Engine
NumPy statistical models  |  Sub-second inference  |  Async endpoints</a:t>
            </a:r>
          </a:p>
        </p:txBody>
      </p:sp>
      <p:sp>
        <p:nvSpPr>
          <p:cNvPr id="14" name="Rectangle 13"/>
          <p:cNvSpPr/>
          <p:nvPr/>
        </p:nvSpPr>
        <p:spPr>
          <a:xfrm>
            <a:off x="854964" y="5266944"/>
            <a:ext cx="2468880" cy="3474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964" y="5266944"/>
            <a:ext cx="2468880" cy="347472"/>
          </a:xfrm>
          <a:prstGeom prst="rect">
            <a:avLst/>
          </a:prstGeom>
          <a:noFill/>
        </p:spPr>
        <p:txBody>
          <a:bodyPr wrap="square">
            <a:spAutoFit/>
          </a:bodyPr>
          <a:lstStyle/>
          <a:p>
            <a:pPr algn="ctr"/>
            <a:r>
              <a:rPr sz="1200" b="1" i="0">
                <a:solidFill>
                  <a:srgbClr val="FFFFFF"/>
                </a:solidFill>
                <a:latin typeface="Calibri"/>
              </a:rPr>
              <a:t>React 19 + TypeScript</a:t>
            </a:r>
          </a:p>
        </p:txBody>
      </p:sp>
      <p:sp>
        <p:nvSpPr>
          <p:cNvPr id="16" name="Rectangle 15"/>
          <p:cNvSpPr/>
          <p:nvPr/>
        </p:nvSpPr>
        <p:spPr>
          <a:xfrm>
            <a:off x="3525012" y="5266944"/>
            <a:ext cx="2468880" cy="3474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5012" y="5266944"/>
            <a:ext cx="2468880" cy="347472"/>
          </a:xfrm>
          <a:prstGeom prst="rect">
            <a:avLst/>
          </a:prstGeom>
          <a:noFill/>
        </p:spPr>
        <p:txBody>
          <a:bodyPr wrap="square">
            <a:spAutoFit/>
          </a:bodyPr>
          <a:lstStyle/>
          <a:p>
            <a:pPr algn="ctr"/>
            <a:r>
              <a:rPr sz="1200" b="1" i="0">
                <a:solidFill>
                  <a:srgbClr val="FFFFFF"/>
                </a:solidFill>
                <a:latin typeface="Calibri"/>
              </a:rPr>
              <a:t>Django 6 + DRF</a:t>
            </a:r>
          </a:p>
        </p:txBody>
      </p:sp>
      <p:sp>
        <p:nvSpPr>
          <p:cNvPr id="18" name="Rectangle 17"/>
          <p:cNvSpPr/>
          <p:nvPr/>
        </p:nvSpPr>
        <p:spPr>
          <a:xfrm>
            <a:off x="6195060" y="5266944"/>
            <a:ext cx="2468880" cy="3474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95060" y="5266944"/>
            <a:ext cx="2468880" cy="347472"/>
          </a:xfrm>
          <a:prstGeom prst="rect">
            <a:avLst/>
          </a:prstGeom>
          <a:noFill/>
        </p:spPr>
        <p:txBody>
          <a:bodyPr wrap="square">
            <a:spAutoFit/>
          </a:bodyPr>
          <a:lstStyle/>
          <a:p>
            <a:pPr algn="ctr"/>
            <a:r>
              <a:rPr sz="1200" b="1" i="0">
                <a:solidFill>
                  <a:srgbClr val="FFFFFF"/>
                </a:solidFill>
                <a:latin typeface="Calibri"/>
              </a:rPr>
              <a:t>FastAPI + NumPy</a:t>
            </a:r>
          </a:p>
        </p:txBody>
      </p:sp>
      <p:sp>
        <p:nvSpPr>
          <p:cNvPr id="20" name="Rectangle 19"/>
          <p:cNvSpPr/>
          <p:nvPr/>
        </p:nvSpPr>
        <p:spPr>
          <a:xfrm>
            <a:off x="8865108" y="5266944"/>
            <a:ext cx="2468880" cy="3474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5108" y="5266944"/>
            <a:ext cx="2468880" cy="347472"/>
          </a:xfrm>
          <a:prstGeom prst="rect">
            <a:avLst/>
          </a:prstGeom>
          <a:noFill/>
        </p:spPr>
        <p:txBody>
          <a:bodyPr wrap="square">
            <a:spAutoFit/>
          </a:bodyPr>
          <a:lstStyle/>
          <a:p>
            <a:pPr algn="ctr"/>
            <a:r>
              <a:rPr sz="1200" b="1" i="0">
                <a:solidFill>
                  <a:srgbClr val="FFFFFF"/>
                </a:solidFill>
                <a:latin typeface="Calibri"/>
              </a:rPr>
              <a:t>Django Channels</a:t>
            </a:r>
          </a:p>
        </p:txBody>
      </p:sp>
      <p:sp>
        <p:nvSpPr>
          <p:cNvPr id="22" name="TextBox 21"/>
          <p:cNvSpPr txBox="1"/>
          <p:nvPr/>
        </p:nvSpPr>
        <p:spPr>
          <a:xfrm>
            <a:off x="11183112" y="6537960"/>
            <a:ext cx="914400" cy="274320"/>
          </a:xfrm>
          <a:prstGeom prst="rect">
            <a:avLst/>
          </a:prstGeom>
          <a:noFill/>
        </p:spPr>
        <p:txBody>
          <a:bodyPr wrap="square">
            <a:spAutoFit/>
          </a:bodyPr>
          <a:lstStyle/>
          <a:p>
            <a:pPr algn="r"/>
            <a:r>
              <a:rPr sz="1000" b="0" i="0">
                <a:solidFill>
                  <a:srgbClr val="808080"/>
                </a:solidFill>
                <a:latin typeface="Calibri"/>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228600"/>
            <a:ext cx="11329416" cy="502920"/>
          </a:xfrm>
          <a:prstGeom prst="rect">
            <a:avLst/>
          </a:prstGeom>
          <a:noFill/>
        </p:spPr>
        <p:txBody>
          <a:bodyPr wrap="square">
            <a:spAutoFit/>
          </a:bodyPr>
          <a:lstStyle/>
          <a:p>
            <a:pPr algn="l"/>
            <a:r>
              <a:rPr sz="3000" b="1" i="0">
                <a:solidFill>
                  <a:srgbClr val="000000"/>
                </a:solidFill>
                <a:latin typeface="Calibri"/>
              </a:rPr>
              <a:t>Four AI Models, One Pipeline</a:t>
            </a:r>
          </a:p>
        </p:txBody>
      </p:sp>
      <p:sp>
        <p:nvSpPr>
          <p:cNvPr id="3" name="Rectangle 2"/>
          <p:cNvSpPr/>
          <p:nvPr/>
        </p:nvSpPr>
        <p:spPr>
          <a:xfrm>
            <a:off x="429768" y="777240"/>
            <a:ext cx="11329416"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9768" y="960120"/>
            <a:ext cx="2695194" cy="429768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9496" y="1051560"/>
            <a:ext cx="2475738" cy="347472"/>
          </a:xfrm>
          <a:prstGeom prst="rect">
            <a:avLst/>
          </a:prstGeom>
          <a:noFill/>
        </p:spPr>
        <p:txBody>
          <a:bodyPr wrap="square">
            <a:spAutoFit/>
          </a:bodyPr>
          <a:lstStyle/>
          <a:p>
            <a:pPr algn="l"/>
            <a:r>
              <a:rPr sz="1400" b="1" i="0">
                <a:solidFill>
                  <a:srgbClr val="000000"/>
                </a:solidFill>
                <a:latin typeface="Calibri"/>
              </a:rPr>
              <a:t>1. Failure Classifier</a:t>
            </a:r>
          </a:p>
        </p:txBody>
      </p:sp>
      <p:sp>
        <p:nvSpPr>
          <p:cNvPr id="6" name="TextBox 5"/>
          <p:cNvSpPr txBox="1"/>
          <p:nvPr/>
        </p:nvSpPr>
        <p:spPr>
          <a:xfrm>
            <a:off x="539496" y="1399032"/>
            <a:ext cx="2475738" cy="3767328"/>
          </a:xfrm>
          <a:prstGeom prst="rect">
            <a:avLst/>
          </a:prstGeom>
          <a:noFill/>
        </p:spPr>
        <p:txBody>
          <a:bodyPr wrap="square">
            <a:spAutoFit/>
          </a:bodyPr>
          <a:lstStyle/>
          <a:p>
            <a:pPr algn="l"/>
            <a:r>
              <a:rPr sz="1200" b="0" i="0">
                <a:solidFill>
                  <a:srgbClr val="000000"/>
                </a:solidFill>
                <a:latin typeface="Calibri"/>
              </a:rPr>
              <a:t>eventCode → category + confidence + self-heal action
Lookup table with confidence scoring.
7 known event codes mapped to 5 failure categories:
NETWORK / CASH_JAM / HARDWARE / SERVER / FRAUD
Output: category, confidence, recommended action.</a:t>
            </a:r>
          </a:p>
        </p:txBody>
      </p:sp>
      <p:sp>
        <p:nvSpPr>
          <p:cNvPr id="7" name="Rectangle 6"/>
          <p:cNvSpPr/>
          <p:nvPr/>
        </p:nvSpPr>
        <p:spPr>
          <a:xfrm>
            <a:off x="3307842" y="960120"/>
            <a:ext cx="2695194" cy="429768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17570" y="1051560"/>
            <a:ext cx="2475738" cy="347472"/>
          </a:xfrm>
          <a:prstGeom prst="rect">
            <a:avLst/>
          </a:prstGeom>
          <a:noFill/>
        </p:spPr>
        <p:txBody>
          <a:bodyPr wrap="square">
            <a:spAutoFit/>
          </a:bodyPr>
          <a:lstStyle/>
          <a:p>
            <a:pPr algn="l"/>
            <a:r>
              <a:rPr sz="1400" b="1" i="0">
                <a:solidFill>
                  <a:srgbClr val="000000"/>
                </a:solidFill>
                <a:latin typeface="Calibri"/>
              </a:rPr>
              <a:t>2. Predictive Model</a:t>
            </a:r>
          </a:p>
        </p:txBody>
      </p:sp>
      <p:sp>
        <p:nvSpPr>
          <p:cNvPr id="9" name="TextBox 8"/>
          <p:cNvSpPr txBox="1"/>
          <p:nvPr/>
        </p:nvSpPr>
        <p:spPr>
          <a:xfrm>
            <a:off x="3417570" y="1399032"/>
            <a:ext cx="2475738" cy="3767328"/>
          </a:xfrm>
          <a:prstGeom prst="rect">
            <a:avLst/>
          </a:prstGeom>
          <a:noFill/>
        </p:spPr>
        <p:txBody>
          <a:bodyPr wrap="square">
            <a:spAutoFit/>
          </a:bodyPr>
          <a:lstStyle/>
          <a:p>
            <a:pPr algn="l"/>
            <a:r>
              <a:rPr sz="1200" b="0" i="0">
                <a:solidFill>
                  <a:srgbClr val="000000"/>
                </a:solidFill>
                <a:latin typeface="Calibri"/>
              </a:rPr>
              <a:t>Health time-series slope analysis
→ P(failure) + hours to failure
Runs rolling mean, variance, and slope on the last N health snapshots.
Catches declining ATMs before they fail completely.</a:t>
            </a:r>
          </a:p>
        </p:txBody>
      </p:sp>
      <p:sp>
        <p:nvSpPr>
          <p:cNvPr id="10" name="Rectangle 9"/>
          <p:cNvSpPr/>
          <p:nvPr/>
        </p:nvSpPr>
        <p:spPr>
          <a:xfrm>
            <a:off x="6185916" y="960120"/>
            <a:ext cx="2695194" cy="429768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5644" y="1051560"/>
            <a:ext cx="2475738" cy="347472"/>
          </a:xfrm>
          <a:prstGeom prst="rect">
            <a:avLst/>
          </a:prstGeom>
          <a:noFill/>
        </p:spPr>
        <p:txBody>
          <a:bodyPr wrap="square">
            <a:spAutoFit/>
          </a:bodyPr>
          <a:lstStyle/>
          <a:p>
            <a:pPr algn="l"/>
            <a:r>
              <a:rPr sz="1400" b="1" i="0">
                <a:solidFill>
                  <a:srgbClr val="000000"/>
                </a:solidFill>
                <a:latin typeface="Calibri"/>
              </a:rPr>
              <a:t>3. Anomaly Detector</a:t>
            </a:r>
          </a:p>
        </p:txBody>
      </p:sp>
      <p:sp>
        <p:nvSpPr>
          <p:cNvPr id="12" name="TextBox 11"/>
          <p:cNvSpPr txBox="1"/>
          <p:nvPr/>
        </p:nvSpPr>
        <p:spPr>
          <a:xfrm>
            <a:off x="6295644" y="1399032"/>
            <a:ext cx="2475738" cy="3767328"/>
          </a:xfrm>
          <a:prstGeom prst="rect">
            <a:avLst/>
          </a:prstGeom>
          <a:noFill/>
        </p:spPr>
        <p:txBody>
          <a:bodyPr wrap="square">
            <a:spAutoFit/>
          </a:bodyPr>
          <a:lstStyle/>
          <a:p>
            <a:pPr algn="l"/>
            <a:r>
              <a:rPr sz="1200" b="0" i="0">
                <a:solidFill>
                  <a:srgbClr val="000000"/>
                </a:solidFill>
                <a:latin typeface="Calibri"/>
              </a:rPr>
              <a:t>Z-score on error rate  (threshold: σ &gt; 3.0)
Detects:
  RAPID_FAILURES
  MALWARE_PATTERN
  CARD_SKIMMING
Compares live error rate against rolling historical baseline.</a:t>
            </a:r>
          </a:p>
        </p:txBody>
      </p:sp>
      <p:sp>
        <p:nvSpPr>
          <p:cNvPr id="13" name="Rectangle 12"/>
          <p:cNvSpPr/>
          <p:nvPr/>
        </p:nvSpPr>
        <p:spPr>
          <a:xfrm>
            <a:off x="9063990" y="960120"/>
            <a:ext cx="2695194" cy="429768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73718" y="1051560"/>
            <a:ext cx="2475738" cy="347472"/>
          </a:xfrm>
          <a:prstGeom prst="rect">
            <a:avLst/>
          </a:prstGeom>
          <a:noFill/>
        </p:spPr>
        <p:txBody>
          <a:bodyPr wrap="square">
            <a:spAutoFit/>
          </a:bodyPr>
          <a:lstStyle/>
          <a:p>
            <a:pPr algn="l"/>
            <a:r>
              <a:rPr sz="1400" b="1" i="0">
                <a:solidFill>
                  <a:srgbClr val="000000"/>
                </a:solidFill>
                <a:latin typeface="Calibri"/>
              </a:rPr>
              <a:t>4. Fraud Detector</a:t>
            </a:r>
          </a:p>
        </p:txBody>
      </p:sp>
      <p:sp>
        <p:nvSpPr>
          <p:cNvPr id="15" name="TextBox 14"/>
          <p:cNvSpPr txBox="1"/>
          <p:nvPr/>
        </p:nvSpPr>
        <p:spPr>
          <a:xfrm>
            <a:off x="9173718" y="1399032"/>
            <a:ext cx="2475738" cy="3767328"/>
          </a:xfrm>
          <a:prstGeom prst="rect">
            <a:avLst/>
          </a:prstGeom>
          <a:noFill/>
        </p:spPr>
        <p:txBody>
          <a:bodyPr wrap="square">
            <a:spAutoFit/>
          </a:bodyPr>
          <a:lstStyle/>
          <a:p>
            <a:pPr algn="l"/>
            <a:r>
              <a:rPr sz="1200" b="0" i="0">
                <a:solidFill>
                  <a:srgbClr val="000000"/>
                </a:solidFill>
                <a:latin typeface="Calibri"/>
              </a:rPr>
              <a:t>3-heuristic ensemble — sub-second per transaction:
  Velocity: 3+ withdrawals in 10 min (same card)
  Amount: Z-score &gt; 3.5σ from card baseline
  Travel: Haversine &gt;100 km in &lt;60 min
Confidence scales with heuristic count.</a:t>
            </a:r>
          </a:p>
        </p:txBody>
      </p:sp>
      <p:sp>
        <p:nvSpPr>
          <p:cNvPr id="16" name="Rectangle 15"/>
          <p:cNvSpPr/>
          <p:nvPr/>
        </p:nvSpPr>
        <p:spPr>
          <a:xfrm>
            <a:off x="429768" y="6400800"/>
            <a:ext cx="11329416" cy="32004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 y="6400800"/>
            <a:ext cx="11329416" cy="320040"/>
          </a:xfrm>
          <a:prstGeom prst="rect">
            <a:avLst/>
          </a:prstGeom>
          <a:noFill/>
        </p:spPr>
        <p:txBody>
          <a:bodyPr wrap="square">
            <a:spAutoFit/>
          </a:bodyPr>
          <a:lstStyle/>
          <a:p>
            <a:pPr algn="ctr"/>
            <a:r>
              <a:rPr sz="1000" b="0" i="0">
                <a:solidFill>
                  <a:srgbClr val="000000"/>
                </a:solidFill>
                <a:latin typeface="Calibri"/>
              </a:rPr>
              <a:t>All 4 models run as async services.  Self-healing triggers automatically for 4 of 6 failure categories.</a:t>
            </a:r>
          </a:p>
        </p:txBody>
      </p:sp>
      <p:sp>
        <p:nvSpPr>
          <p:cNvPr id="18" name="TextBox 17"/>
          <p:cNvSpPr txBox="1"/>
          <p:nvPr/>
        </p:nvSpPr>
        <p:spPr>
          <a:xfrm>
            <a:off x="11183112" y="6537960"/>
            <a:ext cx="914400" cy="274320"/>
          </a:xfrm>
          <a:prstGeom prst="rect">
            <a:avLst/>
          </a:prstGeom>
          <a:noFill/>
        </p:spPr>
        <p:txBody>
          <a:bodyPr wrap="square">
            <a:spAutoFit/>
          </a:bodyPr>
          <a:lstStyle/>
          <a:p>
            <a:pPr algn="r"/>
            <a:r>
              <a:rPr sz="1000" b="0" i="0">
                <a:solidFill>
                  <a:srgbClr val="808080"/>
                </a:solidFill>
                <a:latin typeface="Calibri"/>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228600"/>
            <a:ext cx="11329416" cy="502920"/>
          </a:xfrm>
          <a:prstGeom prst="rect">
            <a:avLst/>
          </a:prstGeom>
          <a:noFill/>
        </p:spPr>
        <p:txBody>
          <a:bodyPr wrap="square">
            <a:spAutoFit/>
          </a:bodyPr>
          <a:lstStyle/>
          <a:p>
            <a:pPr algn="l"/>
            <a:r>
              <a:rPr sz="3000" b="1" i="0">
                <a:solidFill>
                  <a:srgbClr val="000000"/>
                </a:solidFill>
                <a:latin typeface="Calibri"/>
              </a:rPr>
              <a:t>Autonomous Recovery in Under 2 Minutes</a:t>
            </a:r>
          </a:p>
        </p:txBody>
      </p:sp>
      <p:sp>
        <p:nvSpPr>
          <p:cNvPr id="3" name="Rectangle 2"/>
          <p:cNvSpPr/>
          <p:nvPr/>
        </p:nvSpPr>
        <p:spPr>
          <a:xfrm>
            <a:off x="429768" y="777240"/>
            <a:ext cx="11329416"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29768" y="960120"/>
          <a:ext cx="11329416" cy="4571994"/>
        </p:xfrm>
        <a:graphic>
          <a:graphicData uri="http://schemas.openxmlformats.org/drawingml/2006/table">
            <a:tbl>
              <a:tblPr firstRow="1" bandRow="1">
                <a:tableStyleId>{5C22544A-7EE6-4342-B048-85BDC9FD1C3A}</a:tableStyleId>
              </a:tblPr>
              <a:tblGrid>
                <a:gridCol w="2832354"/>
                <a:gridCol w="2832354"/>
                <a:gridCol w="2832354"/>
                <a:gridCol w="2832354"/>
              </a:tblGrid>
              <a:tr h="653142">
                <a:tc>
                  <a:txBody>
                    <a:bodyPr/>
                    <a:lstStyle/>
                    <a:p>
                      <a:pPr algn="ctr"/>
                      <a:r>
                        <a:rPr b="1" sz="1300">
                          <a:solidFill>
                            <a:srgbClr val="FFFFFF"/>
                          </a:solidFill>
                          <a:latin typeface="Calibri"/>
                        </a:rPr>
                        <a:t>Root Cause</a:t>
                      </a:r>
                    </a:p>
                  </a:txBody>
                  <a:tcPr>
                    <a:solidFill>
                      <a:srgbClr val="000000"/>
                    </a:solidFill>
                  </a:tcPr>
                </a:tc>
                <a:tc>
                  <a:txBody>
                    <a:bodyPr/>
                    <a:lstStyle/>
                    <a:p>
                      <a:pPr algn="ctr"/>
                      <a:r>
                        <a:rPr b="1" sz="1300">
                          <a:solidFill>
                            <a:srgbClr val="FFFFFF"/>
                          </a:solidFill>
                          <a:latin typeface="Calibri"/>
                        </a:rPr>
                        <a:t>Self-Heal Action</a:t>
                      </a:r>
                    </a:p>
                  </a:txBody>
                  <a:tcPr>
                    <a:solidFill>
                      <a:srgbClr val="000000"/>
                    </a:solidFill>
                  </a:tcPr>
                </a:tc>
                <a:tc>
                  <a:txBody>
                    <a:bodyPr/>
                    <a:lstStyle/>
                    <a:p>
                      <a:pPr algn="ctr"/>
                      <a:r>
                        <a:rPr b="1" sz="1300">
                          <a:solidFill>
                            <a:srgbClr val="FFFFFF"/>
                          </a:solidFill>
                          <a:latin typeface="Calibri"/>
                        </a:rPr>
                        <a:t>Auto?</a:t>
                      </a:r>
                    </a:p>
                  </a:txBody>
                  <a:tcPr>
                    <a:solidFill>
                      <a:srgbClr val="000000"/>
                    </a:solidFill>
                  </a:tcPr>
                </a:tc>
                <a:tc>
                  <a:txBody>
                    <a:bodyPr/>
                    <a:lstStyle/>
                    <a:p>
                      <a:pPr algn="ctr"/>
                      <a:r>
                        <a:rPr b="1" sz="1300">
                          <a:solidFill>
                            <a:srgbClr val="FFFFFF"/>
                          </a:solidFill>
                          <a:latin typeface="Calibri"/>
                        </a:rPr>
                        <a:t>Typical MTTR</a:t>
                      </a:r>
                    </a:p>
                  </a:txBody>
                  <a:tcPr>
                    <a:solidFill>
                      <a:srgbClr val="000000"/>
                    </a:solidFill>
                  </a:tcPr>
                </a:tc>
              </a:tr>
              <a:tr h="653142">
                <a:tc>
                  <a:txBody>
                    <a:bodyPr/>
                    <a:lstStyle/>
                    <a:p>
                      <a:pPr algn="l"/>
                      <a:r>
                        <a:rPr sz="1200">
                          <a:solidFill>
                            <a:srgbClr val="000000"/>
                          </a:solidFill>
                          <a:latin typeface="Calibri"/>
                        </a:rPr>
                        <a:t>NETWORK</a:t>
                      </a:r>
                    </a:p>
                  </a:txBody>
                  <a:tcPr>
                    <a:solidFill>
                      <a:srgbClr val="FFFFFF"/>
                    </a:solidFill>
                  </a:tcPr>
                </a:tc>
                <a:tc>
                  <a:txBody>
                    <a:bodyPr/>
                    <a:lstStyle/>
                    <a:p>
                      <a:pPr algn="l"/>
                      <a:r>
                        <a:rPr sz="1200">
                          <a:solidFill>
                            <a:srgbClr val="000000"/>
                          </a:solidFill>
                          <a:latin typeface="Calibri"/>
                        </a:rPr>
                        <a:t>Switch to backup network path</a:t>
                      </a:r>
                    </a:p>
                  </a:txBody>
                  <a:tcPr>
                    <a:solidFill>
                      <a:srgbClr val="FFFFFF"/>
                    </a:solidFill>
                  </a:tcPr>
                </a:tc>
                <a:tc>
                  <a:txBody>
                    <a:bodyPr/>
                    <a:lstStyle/>
                    <a:p>
                      <a:pPr algn="l"/>
                      <a:r>
                        <a:rPr sz="1200">
                          <a:solidFill>
                            <a:srgbClr val="000000"/>
                          </a:solidFill>
                          <a:latin typeface="Calibri"/>
                        </a:rPr>
                        <a:t>Yes</a:t>
                      </a:r>
                    </a:p>
                  </a:txBody>
                  <a:tcPr>
                    <a:solidFill>
                      <a:srgbClr val="FFFFFF"/>
                    </a:solidFill>
                  </a:tcPr>
                </a:tc>
                <a:tc>
                  <a:txBody>
                    <a:bodyPr/>
                    <a:lstStyle/>
                    <a:p>
                      <a:pPr algn="l"/>
                      <a:r>
                        <a:rPr sz="1200">
                          <a:solidFill>
                            <a:srgbClr val="000000"/>
                          </a:solidFill>
                          <a:latin typeface="Calibri"/>
                        </a:rPr>
                        <a:t>&lt; 90 seconds</a:t>
                      </a:r>
                    </a:p>
                  </a:txBody>
                  <a:tcPr>
                    <a:solidFill>
                      <a:srgbClr val="FFFFFF"/>
                    </a:solidFill>
                  </a:tcPr>
                </a:tc>
              </a:tr>
              <a:tr h="653142">
                <a:tc>
                  <a:txBody>
                    <a:bodyPr/>
                    <a:lstStyle/>
                    <a:p>
                      <a:pPr algn="l"/>
                      <a:r>
                        <a:rPr sz="1200">
                          <a:solidFill>
                            <a:srgbClr val="000000"/>
                          </a:solidFill>
                          <a:latin typeface="Calibri"/>
                        </a:rPr>
                        <a:t>SERVER / SWITCH</a:t>
                      </a:r>
                    </a:p>
                  </a:txBody>
                  <a:tcPr>
                    <a:solidFill>
                      <a:srgbClr val="F5F5F5"/>
                    </a:solidFill>
                  </a:tcPr>
                </a:tc>
                <a:tc>
                  <a:txBody>
                    <a:bodyPr/>
                    <a:lstStyle/>
                    <a:p>
                      <a:pPr algn="l"/>
                      <a:r>
                        <a:rPr sz="1200">
                          <a:solidFill>
                            <a:srgbClr val="000000"/>
                          </a:solidFill>
                          <a:latin typeface="Calibri"/>
                        </a:rPr>
                        <a:t>Restart service</a:t>
                      </a:r>
                    </a:p>
                  </a:txBody>
                  <a:tcPr>
                    <a:solidFill>
                      <a:srgbClr val="F5F5F5"/>
                    </a:solidFill>
                  </a:tcPr>
                </a:tc>
                <a:tc>
                  <a:txBody>
                    <a:bodyPr/>
                    <a:lstStyle/>
                    <a:p>
                      <a:pPr algn="l"/>
                      <a:r>
                        <a:rPr sz="1200">
                          <a:solidFill>
                            <a:srgbClr val="000000"/>
                          </a:solidFill>
                          <a:latin typeface="Calibri"/>
                        </a:rPr>
                        <a:t>Yes</a:t>
                      </a:r>
                    </a:p>
                  </a:txBody>
                  <a:tcPr>
                    <a:solidFill>
                      <a:srgbClr val="F5F5F5"/>
                    </a:solidFill>
                  </a:tcPr>
                </a:tc>
                <a:tc>
                  <a:txBody>
                    <a:bodyPr/>
                    <a:lstStyle/>
                    <a:p>
                      <a:pPr algn="l"/>
                      <a:r>
                        <a:rPr sz="1200">
                          <a:solidFill>
                            <a:srgbClr val="000000"/>
                          </a:solidFill>
                          <a:latin typeface="Calibri"/>
                        </a:rPr>
                        <a:t>&lt; 2 minutes</a:t>
                      </a:r>
                    </a:p>
                  </a:txBody>
                  <a:tcPr>
                    <a:solidFill>
                      <a:srgbClr val="F5F5F5"/>
                    </a:solidFill>
                  </a:tcPr>
                </a:tc>
              </a:tr>
              <a:tr h="653142">
                <a:tc>
                  <a:txBody>
                    <a:bodyPr/>
                    <a:lstStyle/>
                    <a:p>
                      <a:pPr algn="l"/>
                      <a:r>
                        <a:rPr sz="1200">
                          <a:solidFill>
                            <a:srgbClr val="000000"/>
                          </a:solidFill>
                          <a:latin typeface="Calibri"/>
                        </a:rPr>
                        <a:t>TIMEOUT</a:t>
                      </a:r>
                    </a:p>
                  </a:txBody>
                  <a:tcPr>
                    <a:solidFill>
                      <a:srgbClr val="FFFFFF"/>
                    </a:solidFill>
                  </a:tcPr>
                </a:tc>
                <a:tc>
                  <a:txBody>
                    <a:bodyPr/>
                    <a:lstStyle/>
                    <a:p>
                      <a:pPr algn="l"/>
                      <a:r>
                        <a:rPr sz="1200">
                          <a:solidFill>
                            <a:srgbClr val="000000"/>
                          </a:solidFill>
                          <a:latin typeface="Calibri"/>
                        </a:rPr>
                        <a:t>Flush cache + retry</a:t>
                      </a:r>
                    </a:p>
                  </a:txBody>
                  <a:tcPr>
                    <a:solidFill>
                      <a:srgbClr val="FFFFFF"/>
                    </a:solidFill>
                  </a:tcPr>
                </a:tc>
                <a:tc>
                  <a:txBody>
                    <a:bodyPr/>
                    <a:lstStyle/>
                    <a:p>
                      <a:pPr algn="l"/>
                      <a:r>
                        <a:rPr sz="1200">
                          <a:solidFill>
                            <a:srgbClr val="000000"/>
                          </a:solidFill>
                          <a:latin typeface="Calibri"/>
                        </a:rPr>
                        <a:t>Yes</a:t>
                      </a:r>
                    </a:p>
                  </a:txBody>
                  <a:tcPr>
                    <a:solidFill>
                      <a:srgbClr val="FFFFFF"/>
                    </a:solidFill>
                  </a:tcPr>
                </a:tc>
                <a:tc>
                  <a:txBody>
                    <a:bodyPr/>
                    <a:lstStyle/>
                    <a:p>
                      <a:pPr algn="l"/>
                      <a:r>
                        <a:rPr sz="1200">
                          <a:solidFill>
                            <a:srgbClr val="000000"/>
                          </a:solidFill>
                          <a:latin typeface="Calibri"/>
                        </a:rPr>
                        <a:t>&lt; 60 seconds</a:t>
                      </a:r>
                    </a:p>
                  </a:txBody>
                  <a:tcPr>
                    <a:solidFill>
                      <a:srgbClr val="FFFFFF"/>
                    </a:solidFill>
                  </a:tcPr>
                </a:tc>
              </a:tr>
              <a:tr h="653142">
                <a:tc>
                  <a:txBody>
                    <a:bodyPr/>
                    <a:lstStyle/>
                    <a:p>
                      <a:pPr algn="l"/>
                      <a:r>
                        <a:rPr sz="1200">
                          <a:solidFill>
                            <a:srgbClr val="000000"/>
                          </a:solidFill>
                          <a:latin typeface="Calibri"/>
                        </a:rPr>
                        <a:t>CASH_JAM</a:t>
                      </a:r>
                    </a:p>
                  </a:txBody>
                  <a:tcPr>
                    <a:solidFill>
                      <a:srgbClr val="F5F5F5"/>
                    </a:solidFill>
                  </a:tcPr>
                </a:tc>
                <a:tc>
                  <a:txBody>
                    <a:bodyPr/>
                    <a:lstStyle/>
                    <a:p>
                      <a:pPr algn="l"/>
                      <a:r>
                        <a:rPr sz="1200">
                          <a:solidFill>
                            <a:srgbClr val="000000"/>
                          </a:solidFill>
                          <a:latin typeface="Calibri"/>
                        </a:rPr>
                        <a:t>Dispatch engineer alert</a:t>
                      </a:r>
                    </a:p>
                  </a:txBody>
                  <a:tcPr>
                    <a:solidFill>
                      <a:srgbClr val="F5F5F5"/>
                    </a:solidFill>
                  </a:tcPr>
                </a:tc>
                <a:tc>
                  <a:txBody>
                    <a:bodyPr/>
                    <a:lstStyle/>
                    <a:p>
                      <a:pPr algn="l"/>
                      <a:r>
                        <a:rPr sz="1200">
                          <a:solidFill>
                            <a:srgbClr val="000000"/>
                          </a:solidFill>
                          <a:latin typeface="Calibri"/>
                        </a:rPr>
                        <a:t>No</a:t>
                      </a:r>
                    </a:p>
                  </a:txBody>
                  <a:tcPr>
                    <a:solidFill>
                      <a:srgbClr val="F5F5F5"/>
                    </a:solidFill>
                  </a:tcPr>
                </a:tc>
                <a:tc>
                  <a:txBody>
                    <a:bodyPr/>
                    <a:lstStyle/>
                    <a:p>
                      <a:pPr algn="l"/>
                      <a:r>
                        <a:rPr sz="1200">
                          <a:solidFill>
                            <a:srgbClr val="000000"/>
                          </a:solidFill>
                          <a:latin typeface="Calibri"/>
                        </a:rPr>
                        <a:t>30–120 minutes</a:t>
                      </a:r>
                    </a:p>
                  </a:txBody>
                  <a:tcPr>
                    <a:solidFill>
                      <a:srgbClr val="F5F5F5"/>
                    </a:solidFill>
                  </a:tcPr>
                </a:tc>
              </a:tr>
              <a:tr h="653142">
                <a:tc>
                  <a:txBody>
                    <a:bodyPr/>
                    <a:lstStyle/>
                    <a:p>
                      <a:pPr algn="l"/>
                      <a:r>
                        <a:rPr sz="1200">
                          <a:solidFill>
                            <a:srgbClr val="000000"/>
                          </a:solidFill>
                          <a:latin typeface="Calibri"/>
                        </a:rPr>
                        <a:t>FRAUD</a:t>
                      </a:r>
                    </a:p>
                  </a:txBody>
                  <a:tcPr>
                    <a:solidFill>
                      <a:srgbClr val="FFFFFF"/>
                    </a:solidFill>
                  </a:tcPr>
                </a:tc>
                <a:tc>
                  <a:txBody>
                    <a:bodyPr/>
                    <a:lstStyle/>
                    <a:p>
                      <a:pPr algn="l"/>
                      <a:r>
                        <a:rPr sz="1200">
                          <a:solidFill>
                            <a:srgbClr val="000000"/>
                          </a:solidFill>
                          <a:latin typeface="Calibri"/>
                        </a:rPr>
                        <a:t>Freeze ATM instantly</a:t>
                      </a:r>
                    </a:p>
                  </a:txBody>
                  <a:tcPr>
                    <a:solidFill>
                      <a:srgbClr val="FFFFFF"/>
                    </a:solidFill>
                  </a:tcPr>
                </a:tc>
                <a:tc>
                  <a:txBody>
                    <a:bodyPr/>
                    <a:lstStyle/>
                    <a:p>
                      <a:pPr algn="l"/>
                      <a:r>
                        <a:rPr sz="1200">
                          <a:solidFill>
                            <a:srgbClr val="000000"/>
                          </a:solidFill>
                          <a:latin typeface="Calibri"/>
                        </a:rPr>
                        <a:t>No</a:t>
                      </a:r>
                    </a:p>
                  </a:txBody>
                  <a:tcPr>
                    <a:solidFill>
                      <a:srgbClr val="FFFFFF"/>
                    </a:solidFill>
                  </a:tcPr>
                </a:tc>
                <a:tc>
                  <a:txBody>
                    <a:bodyPr/>
                    <a:lstStyle/>
                    <a:p>
                      <a:pPr algn="l"/>
                      <a:r>
                        <a:rPr sz="1200">
                          <a:solidFill>
                            <a:srgbClr val="000000"/>
                          </a:solidFill>
                          <a:latin typeface="Calibri"/>
                        </a:rPr>
                        <a:t>Immediate</a:t>
                      </a:r>
                    </a:p>
                  </a:txBody>
                  <a:tcPr>
                    <a:solidFill>
                      <a:srgbClr val="FFFFFF"/>
                    </a:solidFill>
                  </a:tcPr>
                </a:tc>
              </a:tr>
              <a:tr h="653142">
                <a:tc>
                  <a:txBody>
                    <a:bodyPr/>
                    <a:lstStyle/>
                    <a:p>
                      <a:pPr algn="l"/>
                      <a:r>
                        <a:rPr sz="1200">
                          <a:solidFill>
                            <a:srgbClr val="000000"/>
                          </a:solidFill>
                          <a:latin typeface="Calibri"/>
                        </a:rPr>
                        <a:t>HARDWARE</a:t>
                      </a:r>
                    </a:p>
                  </a:txBody>
                  <a:tcPr>
                    <a:solidFill>
                      <a:srgbClr val="F5F5F5"/>
                    </a:solidFill>
                  </a:tcPr>
                </a:tc>
                <a:tc>
                  <a:txBody>
                    <a:bodyPr/>
                    <a:lstStyle/>
                    <a:p>
                      <a:pPr algn="l"/>
                      <a:r>
                        <a:rPr sz="1200">
                          <a:solidFill>
                            <a:srgbClr val="000000"/>
                          </a:solidFill>
                          <a:latin typeface="Calibri"/>
                        </a:rPr>
                        <a:t>Alert engineer + open incident</a:t>
                      </a:r>
                    </a:p>
                  </a:txBody>
                  <a:tcPr>
                    <a:solidFill>
                      <a:srgbClr val="F5F5F5"/>
                    </a:solidFill>
                  </a:tcPr>
                </a:tc>
                <a:tc>
                  <a:txBody>
                    <a:bodyPr/>
                    <a:lstStyle/>
                    <a:p>
                      <a:pPr algn="l"/>
                      <a:r>
                        <a:rPr sz="1200">
                          <a:solidFill>
                            <a:srgbClr val="000000"/>
                          </a:solidFill>
                          <a:latin typeface="Calibri"/>
                        </a:rPr>
                        <a:t>No</a:t>
                      </a:r>
                    </a:p>
                  </a:txBody>
                  <a:tcPr>
                    <a:solidFill>
                      <a:srgbClr val="F5F5F5"/>
                    </a:solidFill>
                  </a:tcPr>
                </a:tc>
                <a:tc>
                  <a:txBody>
                    <a:bodyPr/>
                    <a:lstStyle/>
                    <a:p>
                      <a:pPr algn="l"/>
                      <a:r>
                        <a:rPr sz="1200">
                          <a:solidFill>
                            <a:srgbClr val="000000"/>
                          </a:solidFill>
                          <a:latin typeface="Calibri"/>
                        </a:rPr>
                        <a:t>30–120 minutes</a:t>
                      </a:r>
                    </a:p>
                  </a:txBody>
                  <a:tcPr>
                    <a:solidFill>
                      <a:srgbClr val="F5F5F5"/>
                    </a:solidFill>
                  </a:tcPr>
                </a:tc>
              </a:tr>
            </a:tbl>
          </a:graphicData>
        </a:graphic>
      </p:graphicFrame>
      <p:sp>
        <p:nvSpPr>
          <p:cNvPr id="5" name="Rectangle 4"/>
          <p:cNvSpPr/>
          <p:nvPr/>
        </p:nvSpPr>
        <p:spPr>
          <a:xfrm>
            <a:off x="429768" y="6400800"/>
            <a:ext cx="11329416" cy="32004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8" y="6400800"/>
            <a:ext cx="11329416" cy="320040"/>
          </a:xfrm>
          <a:prstGeom prst="rect">
            <a:avLst/>
          </a:prstGeom>
          <a:noFill/>
        </p:spPr>
        <p:txBody>
          <a:bodyPr wrap="square">
            <a:spAutoFit/>
          </a:bodyPr>
          <a:lstStyle/>
          <a:p>
            <a:pPr algn="ctr"/>
            <a:r>
              <a:rPr sz="1000" b="0" i="0">
                <a:solidFill>
                  <a:srgbClr val="000000"/>
                </a:solidFill>
                <a:latin typeface="Calibri"/>
              </a:rPr>
              <a:t>Industry average MTTR: 4+ hours.  PayGuard auto-resolves 4 of 6 failure categories.</a:t>
            </a:r>
          </a:p>
        </p:txBody>
      </p:sp>
      <p:sp>
        <p:nvSpPr>
          <p:cNvPr id="7" name="TextBox 6"/>
          <p:cNvSpPr txBox="1"/>
          <p:nvPr/>
        </p:nvSpPr>
        <p:spPr>
          <a:xfrm>
            <a:off x="11183112" y="6537960"/>
            <a:ext cx="914400" cy="274320"/>
          </a:xfrm>
          <a:prstGeom prst="rect">
            <a:avLst/>
          </a:prstGeom>
          <a:noFill/>
        </p:spPr>
        <p:txBody>
          <a:bodyPr wrap="square">
            <a:spAutoFit/>
          </a:bodyPr>
          <a:lstStyle/>
          <a:p>
            <a:pPr algn="r"/>
            <a:r>
              <a:rPr sz="1000" b="0" i="0">
                <a:solidFill>
                  <a:srgbClr val="808080"/>
                </a:solidFill>
                <a:latin typeface="Calibri"/>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228600"/>
            <a:ext cx="11329416" cy="502920"/>
          </a:xfrm>
          <a:prstGeom prst="rect">
            <a:avLst/>
          </a:prstGeom>
          <a:noFill/>
        </p:spPr>
        <p:txBody>
          <a:bodyPr wrap="square">
            <a:spAutoFit/>
          </a:bodyPr>
          <a:lstStyle/>
          <a:p>
            <a:pPr algn="l"/>
            <a:r>
              <a:rPr sz="3000" b="1" i="0">
                <a:solidFill>
                  <a:srgbClr val="000000"/>
                </a:solidFill>
                <a:latin typeface="Calibri"/>
              </a:rPr>
              <a:t>The First Real-Time ATM Incident Portal in India</a:t>
            </a:r>
          </a:p>
        </p:txBody>
      </p:sp>
      <p:sp>
        <p:nvSpPr>
          <p:cNvPr id="3" name="Rectangle 2"/>
          <p:cNvSpPr/>
          <p:nvPr/>
        </p:nvSpPr>
        <p:spPr>
          <a:xfrm>
            <a:off x="429768" y="777240"/>
            <a:ext cx="11329416"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9768" y="960120"/>
            <a:ext cx="5481828" cy="411480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9496" y="1051560"/>
            <a:ext cx="5262372" cy="384048"/>
          </a:xfrm>
          <a:prstGeom prst="rect">
            <a:avLst/>
          </a:prstGeom>
          <a:noFill/>
        </p:spPr>
        <p:txBody>
          <a:bodyPr wrap="square">
            <a:spAutoFit/>
          </a:bodyPr>
          <a:lstStyle/>
          <a:p>
            <a:pPr algn="l"/>
            <a:r>
              <a:rPr sz="1500" b="1" i="0">
                <a:solidFill>
                  <a:srgbClr val="000000"/>
                </a:solidFill>
                <a:latin typeface="Calibri"/>
              </a:rPr>
              <a:t>Customer Flow</a:t>
            </a:r>
          </a:p>
        </p:txBody>
      </p:sp>
      <p:sp>
        <p:nvSpPr>
          <p:cNvPr id="6" name="TextBox 5"/>
          <p:cNvSpPr txBox="1"/>
          <p:nvPr/>
        </p:nvSpPr>
        <p:spPr>
          <a:xfrm>
            <a:off x="539496" y="1527048"/>
            <a:ext cx="5262372" cy="3429000"/>
          </a:xfrm>
          <a:prstGeom prst="rect">
            <a:avLst/>
          </a:prstGeom>
          <a:noFill/>
        </p:spPr>
        <p:txBody>
          <a:bodyPr wrap="square">
            <a:spAutoFit/>
          </a:bodyPr>
          <a:lstStyle/>
          <a:p>
            <a:pPr algn="l"/>
            <a:r>
              <a:rPr sz="1300" b="0" i="0">
                <a:solidFill>
                  <a:srgbClr val="000000"/>
                </a:solidFill>
                <a:latin typeface="Calibri"/>
              </a:rPr>
              <a:t>1.  Customer enters phone number
2.  OTP sent (no account required)
3.  View all failed transactions
4.  Live status updates via WebSocket
     (no manual refresh needed)
5.  Refund ETA displayed prominently
6.  SMS deep-link — works without app</a:t>
            </a:r>
          </a:p>
        </p:txBody>
      </p:sp>
      <p:sp>
        <p:nvSpPr>
          <p:cNvPr id="7" name="Rectangle 6"/>
          <p:cNvSpPr/>
          <p:nvPr/>
        </p:nvSpPr>
        <p:spPr>
          <a:xfrm>
            <a:off x="6277356" y="960120"/>
            <a:ext cx="5481828" cy="411480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7084" y="1051560"/>
            <a:ext cx="5262372" cy="384048"/>
          </a:xfrm>
          <a:prstGeom prst="rect">
            <a:avLst/>
          </a:prstGeom>
          <a:noFill/>
        </p:spPr>
        <p:txBody>
          <a:bodyPr wrap="square">
            <a:spAutoFit/>
          </a:bodyPr>
          <a:lstStyle/>
          <a:p>
            <a:pPr algn="l"/>
            <a:r>
              <a:rPr sz="1500" b="1" i="0">
                <a:solidFill>
                  <a:srgbClr val="000000"/>
                </a:solidFill>
                <a:latin typeface="Calibri"/>
              </a:rPr>
              <a:t>Key Design Decisions</a:t>
            </a:r>
          </a:p>
        </p:txBody>
      </p:sp>
      <p:sp>
        <p:nvSpPr>
          <p:cNvPr id="9" name="TextBox 8"/>
          <p:cNvSpPr txBox="1"/>
          <p:nvPr/>
        </p:nvSpPr>
        <p:spPr>
          <a:xfrm>
            <a:off x="6387084" y="1527048"/>
            <a:ext cx="5262372" cy="3429000"/>
          </a:xfrm>
          <a:prstGeom prst="rect">
            <a:avLst/>
          </a:prstGeom>
          <a:noFill/>
        </p:spPr>
        <p:txBody>
          <a:bodyPr wrap="square">
            <a:spAutoFit/>
          </a:bodyPr>
          <a:lstStyle/>
          <a:p>
            <a:pPr algn="l"/>
            <a:r>
              <a:rPr sz="1300" b="0" i="0">
                <a:solidFill>
                  <a:srgbClr val="000000"/>
                </a:solidFill>
                <a:latin typeface="Calibri"/>
              </a:rPr>
              <a:t>OTP auth — zero setup, familiar from UPI
SHA-256 phone hashing — DPDP Act 2023
compliant, no raw PII stored
WebSocket + exponential backoff — built
for Indian 2G / 3G mobile networks
SMS deep-link — no smartphone app needed
"Your money is safe" — first thing
the customer sees on every screen</a:t>
            </a:r>
          </a:p>
        </p:txBody>
      </p:sp>
      <p:sp>
        <p:nvSpPr>
          <p:cNvPr id="10" name="Rectangle 9"/>
          <p:cNvSpPr/>
          <p:nvPr/>
        </p:nvSpPr>
        <p:spPr>
          <a:xfrm>
            <a:off x="429768" y="5239512"/>
            <a:ext cx="1812036" cy="50292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 y="5239512"/>
            <a:ext cx="1812036" cy="502920"/>
          </a:xfrm>
          <a:prstGeom prst="rect">
            <a:avLst/>
          </a:prstGeom>
          <a:noFill/>
        </p:spPr>
        <p:txBody>
          <a:bodyPr wrap="square">
            <a:spAutoFit/>
          </a:bodyPr>
          <a:lstStyle/>
          <a:p>
            <a:pPr algn="ctr"/>
            <a:r>
              <a:rPr sz="900" b="1" i="0">
                <a:solidFill>
                  <a:srgbClr val="FFFFFF"/>
                </a:solidFill>
                <a:latin typeface="Calibri"/>
              </a:rPr>
              <a:t>DETECTED</a:t>
            </a:r>
          </a:p>
        </p:txBody>
      </p:sp>
      <p:sp>
        <p:nvSpPr>
          <p:cNvPr id="12" name="Rectangle 11"/>
          <p:cNvSpPr/>
          <p:nvPr/>
        </p:nvSpPr>
        <p:spPr>
          <a:xfrm>
            <a:off x="2333244" y="5239512"/>
            <a:ext cx="1812036" cy="50292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3244" y="5239512"/>
            <a:ext cx="1812036" cy="502920"/>
          </a:xfrm>
          <a:prstGeom prst="rect">
            <a:avLst/>
          </a:prstGeom>
          <a:noFill/>
        </p:spPr>
        <p:txBody>
          <a:bodyPr wrap="square">
            <a:spAutoFit/>
          </a:bodyPr>
          <a:lstStyle/>
          <a:p>
            <a:pPr algn="ctr"/>
            <a:r>
              <a:rPr sz="900" b="0" i="0">
                <a:solidFill>
                  <a:srgbClr val="000000"/>
                </a:solidFill>
                <a:latin typeface="Calibri"/>
              </a:rPr>
              <a:t>INVESTIGATING</a:t>
            </a:r>
          </a:p>
        </p:txBody>
      </p:sp>
      <p:sp>
        <p:nvSpPr>
          <p:cNvPr id="14" name="Rectangle 13"/>
          <p:cNvSpPr/>
          <p:nvPr/>
        </p:nvSpPr>
        <p:spPr>
          <a:xfrm>
            <a:off x="4236720" y="5239512"/>
            <a:ext cx="1812036" cy="50292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36720" y="5239512"/>
            <a:ext cx="1812036" cy="502920"/>
          </a:xfrm>
          <a:prstGeom prst="rect">
            <a:avLst/>
          </a:prstGeom>
          <a:noFill/>
        </p:spPr>
        <p:txBody>
          <a:bodyPr wrap="square">
            <a:spAutoFit/>
          </a:bodyPr>
          <a:lstStyle/>
          <a:p>
            <a:pPr algn="ctr"/>
            <a:r>
              <a:rPr sz="900" b="0" i="0">
                <a:solidFill>
                  <a:srgbClr val="000000"/>
                </a:solidFill>
                <a:latin typeface="Calibri"/>
              </a:rPr>
              <a:t>ENGINEER
DISPATCHED</a:t>
            </a:r>
          </a:p>
        </p:txBody>
      </p:sp>
      <p:sp>
        <p:nvSpPr>
          <p:cNvPr id="16" name="Rectangle 15"/>
          <p:cNvSpPr/>
          <p:nvPr/>
        </p:nvSpPr>
        <p:spPr>
          <a:xfrm>
            <a:off x="6140196" y="5239512"/>
            <a:ext cx="1812036" cy="50292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40196" y="5239512"/>
            <a:ext cx="1812036" cy="502920"/>
          </a:xfrm>
          <a:prstGeom prst="rect">
            <a:avLst/>
          </a:prstGeom>
          <a:noFill/>
        </p:spPr>
        <p:txBody>
          <a:bodyPr wrap="square">
            <a:spAutoFit/>
          </a:bodyPr>
          <a:lstStyle/>
          <a:p>
            <a:pPr algn="ctr"/>
            <a:r>
              <a:rPr sz="900" b="0" i="0">
                <a:solidFill>
                  <a:srgbClr val="000000"/>
                </a:solidFill>
                <a:latin typeface="Calibri"/>
              </a:rPr>
              <a:t>RESOLVING</a:t>
            </a:r>
          </a:p>
        </p:txBody>
      </p:sp>
      <p:sp>
        <p:nvSpPr>
          <p:cNvPr id="18" name="Rectangle 17"/>
          <p:cNvSpPr/>
          <p:nvPr/>
        </p:nvSpPr>
        <p:spPr>
          <a:xfrm>
            <a:off x="8043672" y="5239512"/>
            <a:ext cx="1812036" cy="50292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3672" y="5239512"/>
            <a:ext cx="1812036" cy="502920"/>
          </a:xfrm>
          <a:prstGeom prst="rect">
            <a:avLst/>
          </a:prstGeom>
          <a:noFill/>
        </p:spPr>
        <p:txBody>
          <a:bodyPr wrap="square">
            <a:spAutoFit/>
          </a:bodyPr>
          <a:lstStyle/>
          <a:p>
            <a:pPr algn="ctr"/>
            <a:r>
              <a:rPr sz="900" b="0" i="0">
                <a:solidFill>
                  <a:srgbClr val="000000"/>
                </a:solidFill>
                <a:latin typeface="Calibri"/>
              </a:rPr>
              <a:t>REFUND
INITIATED</a:t>
            </a:r>
          </a:p>
        </p:txBody>
      </p:sp>
      <p:sp>
        <p:nvSpPr>
          <p:cNvPr id="20" name="Rectangle 19"/>
          <p:cNvSpPr/>
          <p:nvPr/>
        </p:nvSpPr>
        <p:spPr>
          <a:xfrm>
            <a:off x="9947148" y="5239512"/>
            <a:ext cx="1812036" cy="50292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47148" y="5239512"/>
            <a:ext cx="1812036" cy="502920"/>
          </a:xfrm>
          <a:prstGeom prst="rect">
            <a:avLst/>
          </a:prstGeom>
          <a:noFill/>
        </p:spPr>
        <p:txBody>
          <a:bodyPr wrap="square">
            <a:spAutoFit/>
          </a:bodyPr>
          <a:lstStyle/>
          <a:p>
            <a:pPr algn="ctr"/>
            <a:r>
              <a:rPr sz="900" b="0" i="0">
                <a:solidFill>
                  <a:srgbClr val="000000"/>
                </a:solidFill>
                <a:latin typeface="Calibri"/>
              </a:rPr>
              <a:t>RESOLVED</a:t>
            </a:r>
          </a:p>
        </p:txBody>
      </p:sp>
      <p:sp>
        <p:nvSpPr>
          <p:cNvPr id="22" name="TextBox 21"/>
          <p:cNvSpPr txBox="1"/>
          <p:nvPr/>
        </p:nvSpPr>
        <p:spPr>
          <a:xfrm>
            <a:off x="11183112" y="6537960"/>
            <a:ext cx="914400" cy="274320"/>
          </a:xfrm>
          <a:prstGeom prst="rect">
            <a:avLst/>
          </a:prstGeom>
          <a:noFill/>
        </p:spPr>
        <p:txBody>
          <a:bodyPr wrap="square">
            <a:spAutoFit/>
          </a:bodyPr>
          <a:lstStyle/>
          <a:p>
            <a:pPr algn="r"/>
            <a:r>
              <a:rPr sz="1000" b="0" i="0">
                <a:solidFill>
                  <a:srgbClr val="808080"/>
                </a:solidFill>
                <a:latin typeface="Calibri"/>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228600"/>
            <a:ext cx="11329416" cy="502920"/>
          </a:xfrm>
          <a:prstGeom prst="rect">
            <a:avLst/>
          </a:prstGeom>
          <a:noFill/>
        </p:spPr>
        <p:txBody>
          <a:bodyPr wrap="square">
            <a:spAutoFit/>
          </a:bodyPr>
          <a:lstStyle/>
          <a:p>
            <a:pPr algn="l"/>
            <a:r>
              <a:rPr sz="3000" b="1" i="0">
                <a:solidFill>
                  <a:srgbClr val="000000"/>
                </a:solidFill>
                <a:latin typeface="Calibri"/>
              </a:rPr>
              <a:t>English + Hindi. Not a Translation. A Native Experience.</a:t>
            </a:r>
          </a:p>
        </p:txBody>
      </p:sp>
      <p:sp>
        <p:nvSpPr>
          <p:cNvPr id="3" name="Rectangle 2"/>
          <p:cNvSpPr/>
          <p:nvPr/>
        </p:nvSpPr>
        <p:spPr>
          <a:xfrm>
            <a:off x="429768" y="777240"/>
            <a:ext cx="11329416"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9768" y="1005840"/>
            <a:ext cx="5481828" cy="265176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9496" y="1097280"/>
            <a:ext cx="5262372" cy="347472"/>
          </a:xfrm>
          <a:prstGeom prst="rect">
            <a:avLst/>
          </a:prstGeom>
          <a:noFill/>
        </p:spPr>
        <p:txBody>
          <a:bodyPr wrap="square">
            <a:spAutoFit/>
          </a:bodyPr>
          <a:lstStyle/>
          <a:p>
            <a:pPr algn="l"/>
            <a:r>
              <a:rPr sz="1400" b="1" i="0">
                <a:solidFill>
                  <a:srgbClr val="000000"/>
                </a:solidFill>
                <a:latin typeface="Calibri"/>
              </a:rPr>
              <a:t>English</a:t>
            </a:r>
          </a:p>
        </p:txBody>
      </p:sp>
      <p:sp>
        <p:nvSpPr>
          <p:cNvPr id="6" name="TextBox 5"/>
          <p:cNvSpPr txBox="1"/>
          <p:nvPr/>
        </p:nvSpPr>
        <p:spPr>
          <a:xfrm>
            <a:off x="539496" y="1508760"/>
            <a:ext cx="5262372" cy="2057400"/>
          </a:xfrm>
          <a:prstGeom prst="rect">
            <a:avLst/>
          </a:prstGeom>
          <a:noFill/>
        </p:spPr>
        <p:txBody>
          <a:bodyPr wrap="square">
            <a:spAutoFit/>
          </a:bodyPr>
          <a:lstStyle/>
          <a:p>
            <a:pPr algn="l"/>
            <a:r>
              <a:rPr sz="1300" b="0" i="0">
                <a:solidFill>
                  <a:srgbClr val="000000"/>
                </a:solidFill>
                <a:latin typeface="Calibri"/>
              </a:rPr>
              <a:t>Cash jam — your ₹3,000 was debited but cash was not dispensed.
Your money is safe and will be refunded within 5 working days as per RBI guidelines.
Reference: TXN-2024-00418
Engineer dispatched. ETA: 45 minutes.</a:t>
            </a:r>
          </a:p>
        </p:txBody>
      </p:sp>
      <p:sp>
        <p:nvSpPr>
          <p:cNvPr id="7" name="Rectangle 6"/>
          <p:cNvSpPr/>
          <p:nvPr/>
        </p:nvSpPr>
        <p:spPr>
          <a:xfrm>
            <a:off x="6277356" y="1005840"/>
            <a:ext cx="5481828" cy="265176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7084" y="1097280"/>
            <a:ext cx="5262372" cy="347472"/>
          </a:xfrm>
          <a:prstGeom prst="rect">
            <a:avLst/>
          </a:prstGeom>
          <a:noFill/>
        </p:spPr>
        <p:txBody>
          <a:bodyPr wrap="square">
            <a:spAutoFit/>
          </a:bodyPr>
          <a:lstStyle/>
          <a:p>
            <a:pPr algn="l"/>
            <a:r>
              <a:rPr sz="1400" b="1" i="0">
                <a:solidFill>
                  <a:srgbClr val="000000"/>
                </a:solidFill>
                <a:latin typeface="Calibri"/>
              </a:rPr>
              <a:t>Hindi (हिन्दी)</a:t>
            </a:r>
          </a:p>
        </p:txBody>
      </p:sp>
      <p:sp>
        <p:nvSpPr>
          <p:cNvPr id="9" name="TextBox 8"/>
          <p:cNvSpPr txBox="1"/>
          <p:nvPr/>
        </p:nvSpPr>
        <p:spPr>
          <a:xfrm>
            <a:off x="6387084" y="1508760"/>
            <a:ext cx="5262372" cy="2057400"/>
          </a:xfrm>
          <a:prstGeom prst="rect">
            <a:avLst/>
          </a:prstGeom>
          <a:noFill/>
        </p:spPr>
        <p:txBody>
          <a:bodyPr wrap="square">
            <a:spAutoFit/>
          </a:bodyPr>
          <a:lstStyle/>
          <a:p>
            <a:pPr algn="l"/>
            <a:r>
              <a:rPr sz="1300" b="0" i="0">
                <a:solidFill>
                  <a:srgbClr val="000000"/>
                </a:solidFill>
                <a:latin typeface="Calibri"/>
              </a:rPr>
              <a:t>कैश जाम — आपका ₹3,000 डेबिट हो गया लेकिन नकद नहीं निकला।
RBI नियमों के अनुसार आपका पैसा 5 कार्य दिवसों में वापस किया जाएगा।
संदर्भ: TXN-2024-00418
इंजीनियर भेजा गया। ETA: 45 मिनट</a:t>
            </a:r>
          </a:p>
        </p:txBody>
      </p:sp>
      <p:sp>
        <p:nvSpPr>
          <p:cNvPr id="10" name="TextBox 9"/>
          <p:cNvSpPr txBox="1"/>
          <p:nvPr/>
        </p:nvSpPr>
        <p:spPr>
          <a:xfrm>
            <a:off x="429768" y="3858768"/>
            <a:ext cx="11329416" cy="365760"/>
          </a:xfrm>
          <a:prstGeom prst="rect">
            <a:avLst/>
          </a:prstGeom>
          <a:noFill/>
        </p:spPr>
        <p:txBody>
          <a:bodyPr wrap="square">
            <a:spAutoFit/>
          </a:bodyPr>
          <a:lstStyle/>
          <a:p>
            <a:pPr algn="ctr"/>
            <a:r>
              <a:rPr sz="1300" b="0" i="1">
                <a:solidFill>
                  <a:srgbClr val="000000"/>
                </a:solidFill>
                <a:latin typeface="Calibri"/>
              </a:rPr>
              <a:t>Every status label, error message, failure reason, engineer update, and UI string has both EN and HI variants.</a:t>
            </a:r>
          </a:p>
        </p:txBody>
      </p:sp>
      <p:sp>
        <p:nvSpPr>
          <p:cNvPr id="11" name="Rectangle 10"/>
          <p:cNvSpPr/>
          <p:nvPr/>
        </p:nvSpPr>
        <p:spPr>
          <a:xfrm>
            <a:off x="429768" y="6400800"/>
            <a:ext cx="11329416" cy="32004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6400800"/>
            <a:ext cx="11329416" cy="320040"/>
          </a:xfrm>
          <a:prstGeom prst="rect">
            <a:avLst/>
          </a:prstGeom>
          <a:noFill/>
        </p:spPr>
        <p:txBody>
          <a:bodyPr wrap="square">
            <a:spAutoFit/>
          </a:bodyPr>
          <a:lstStyle/>
          <a:p>
            <a:pPr algn="ctr"/>
            <a:r>
              <a:rPr sz="1000" b="0" i="0">
                <a:solidFill>
                  <a:srgbClr val="000000"/>
                </a:solidFill>
                <a:latin typeface="Calibri"/>
              </a:rPr>
              <a:t>65% of India's population primarily uses Hindi. We built for them.</a:t>
            </a:r>
          </a:p>
        </p:txBody>
      </p:sp>
      <p:sp>
        <p:nvSpPr>
          <p:cNvPr id="13" name="TextBox 12"/>
          <p:cNvSpPr txBox="1"/>
          <p:nvPr/>
        </p:nvSpPr>
        <p:spPr>
          <a:xfrm>
            <a:off x="11183112" y="6537960"/>
            <a:ext cx="914400" cy="274320"/>
          </a:xfrm>
          <a:prstGeom prst="rect">
            <a:avLst/>
          </a:prstGeom>
          <a:noFill/>
        </p:spPr>
        <p:txBody>
          <a:bodyPr wrap="square">
            <a:spAutoFit/>
          </a:bodyPr>
          <a:lstStyle/>
          <a:p>
            <a:pPr algn="r"/>
            <a:r>
              <a:rPr sz="1000" b="0" i="0">
                <a:solidFill>
                  <a:srgbClr val="808080"/>
                </a:solidFill>
                <a:latin typeface="Calibri"/>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228600"/>
            <a:ext cx="11329416" cy="502920"/>
          </a:xfrm>
          <a:prstGeom prst="rect">
            <a:avLst/>
          </a:prstGeom>
          <a:noFill/>
        </p:spPr>
        <p:txBody>
          <a:bodyPr wrap="square">
            <a:spAutoFit/>
          </a:bodyPr>
          <a:lstStyle/>
          <a:p>
            <a:pPr algn="l"/>
            <a:r>
              <a:rPr sz="3000" b="1" i="0">
                <a:solidFill>
                  <a:srgbClr val="000000"/>
                </a:solidFill>
                <a:latin typeface="Calibri"/>
              </a:rPr>
              <a:t>3-Heuristic Fraud Ensemble</a:t>
            </a:r>
          </a:p>
        </p:txBody>
      </p:sp>
      <p:sp>
        <p:nvSpPr>
          <p:cNvPr id="3" name="Rectangle 2"/>
          <p:cNvSpPr/>
          <p:nvPr/>
        </p:nvSpPr>
        <p:spPr>
          <a:xfrm>
            <a:off x="429768" y="777240"/>
            <a:ext cx="11329416"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9768" y="960120"/>
            <a:ext cx="3654552" cy="429768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9496" y="1051560"/>
            <a:ext cx="3435096" cy="347472"/>
          </a:xfrm>
          <a:prstGeom prst="rect">
            <a:avLst/>
          </a:prstGeom>
          <a:noFill/>
        </p:spPr>
        <p:txBody>
          <a:bodyPr wrap="square">
            <a:spAutoFit/>
          </a:bodyPr>
          <a:lstStyle/>
          <a:p>
            <a:pPr algn="l"/>
            <a:r>
              <a:rPr sz="1400" b="1" i="0">
                <a:solidFill>
                  <a:srgbClr val="000000"/>
                </a:solidFill>
                <a:latin typeface="Calibri"/>
              </a:rPr>
              <a:t>1. Velocity Check</a:t>
            </a:r>
          </a:p>
        </p:txBody>
      </p:sp>
      <p:sp>
        <p:nvSpPr>
          <p:cNvPr id="6" name="TextBox 5"/>
          <p:cNvSpPr txBox="1"/>
          <p:nvPr/>
        </p:nvSpPr>
        <p:spPr>
          <a:xfrm>
            <a:off x="539496" y="1399032"/>
            <a:ext cx="3435096" cy="3767328"/>
          </a:xfrm>
          <a:prstGeom prst="rect">
            <a:avLst/>
          </a:prstGeom>
          <a:noFill/>
        </p:spPr>
        <p:txBody>
          <a:bodyPr wrap="square">
            <a:spAutoFit/>
          </a:bodyPr>
          <a:lstStyle/>
          <a:p>
            <a:pPr algn="l"/>
            <a:r>
              <a:rPr sz="1200" b="0" i="0">
                <a:solidFill>
                  <a:srgbClr val="000000"/>
                </a:solidFill>
                <a:latin typeface="Calibri"/>
              </a:rPr>
              <a:t>3+ withdrawals from the same card
in a 10-minute rolling window
Confidence scales with transaction count.
Runs per transaction against card history.
Flags: RAPID_FAILURES
Trigger: AnomalyFlag created,
engineer alerted.</a:t>
            </a:r>
          </a:p>
        </p:txBody>
      </p:sp>
      <p:sp>
        <p:nvSpPr>
          <p:cNvPr id="7" name="Rectangle 6"/>
          <p:cNvSpPr/>
          <p:nvPr/>
        </p:nvSpPr>
        <p:spPr>
          <a:xfrm>
            <a:off x="4267200" y="960120"/>
            <a:ext cx="3654552" cy="429768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76928" y="1051560"/>
            <a:ext cx="3435096" cy="347472"/>
          </a:xfrm>
          <a:prstGeom prst="rect">
            <a:avLst/>
          </a:prstGeom>
          <a:noFill/>
        </p:spPr>
        <p:txBody>
          <a:bodyPr wrap="square">
            <a:spAutoFit/>
          </a:bodyPr>
          <a:lstStyle/>
          <a:p>
            <a:pPr algn="l"/>
            <a:r>
              <a:rPr sz="1400" b="1" i="0">
                <a:solidFill>
                  <a:srgbClr val="000000"/>
                </a:solidFill>
                <a:latin typeface="Calibri"/>
              </a:rPr>
              <a:t>2. Amount Anomaly</a:t>
            </a:r>
          </a:p>
        </p:txBody>
      </p:sp>
      <p:sp>
        <p:nvSpPr>
          <p:cNvPr id="9" name="TextBox 8"/>
          <p:cNvSpPr txBox="1"/>
          <p:nvPr/>
        </p:nvSpPr>
        <p:spPr>
          <a:xfrm>
            <a:off x="4376928" y="1399032"/>
            <a:ext cx="3435096" cy="3767328"/>
          </a:xfrm>
          <a:prstGeom prst="rect">
            <a:avLst/>
          </a:prstGeom>
          <a:noFill/>
        </p:spPr>
        <p:txBody>
          <a:bodyPr wrap="square">
            <a:spAutoFit/>
          </a:bodyPr>
          <a:lstStyle/>
          <a:p>
            <a:pPr algn="l"/>
            <a:r>
              <a:rPr sz="1200" b="0" i="0">
                <a:solidFill>
                  <a:srgbClr val="000000"/>
                </a:solidFill>
                <a:latin typeface="Calibri"/>
              </a:rPr>
              <a:t>Z-score vs card's historical
transaction baseline
Threshold: |Z| &gt; 3.5σ
Each card builds its own statistical
profile over time.
Flags: UNUSUAL_WITHDRAWAL
Accounts for card-holder-specific
spending patterns.</a:t>
            </a:r>
          </a:p>
        </p:txBody>
      </p:sp>
      <p:sp>
        <p:nvSpPr>
          <p:cNvPr id="10" name="Rectangle 9"/>
          <p:cNvSpPr/>
          <p:nvPr/>
        </p:nvSpPr>
        <p:spPr>
          <a:xfrm>
            <a:off x="8104632" y="960120"/>
            <a:ext cx="3654552" cy="429768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4360" y="1051560"/>
            <a:ext cx="3435096" cy="347472"/>
          </a:xfrm>
          <a:prstGeom prst="rect">
            <a:avLst/>
          </a:prstGeom>
          <a:noFill/>
        </p:spPr>
        <p:txBody>
          <a:bodyPr wrap="square">
            <a:spAutoFit/>
          </a:bodyPr>
          <a:lstStyle/>
          <a:p>
            <a:pPr algn="l"/>
            <a:r>
              <a:rPr sz="1400" b="1" i="0">
                <a:solidFill>
                  <a:srgbClr val="000000"/>
                </a:solidFill>
                <a:latin typeface="Calibri"/>
              </a:rPr>
              <a:t>3. Impossible Travel</a:t>
            </a:r>
          </a:p>
        </p:txBody>
      </p:sp>
      <p:sp>
        <p:nvSpPr>
          <p:cNvPr id="12" name="TextBox 11"/>
          <p:cNvSpPr txBox="1"/>
          <p:nvPr/>
        </p:nvSpPr>
        <p:spPr>
          <a:xfrm>
            <a:off x="8214360" y="1399032"/>
            <a:ext cx="3435096" cy="3767328"/>
          </a:xfrm>
          <a:prstGeom prst="rect">
            <a:avLst/>
          </a:prstGeom>
          <a:noFill/>
        </p:spPr>
        <p:txBody>
          <a:bodyPr wrap="square">
            <a:spAutoFit/>
          </a:bodyPr>
          <a:lstStyle/>
          <a:p>
            <a:pPr algn="l"/>
            <a:r>
              <a:rPr sz="1200" b="0" i="0">
                <a:solidFill>
                  <a:srgbClr val="000000"/>
                </a:solidFill>
                <a:latin typeface="Calibri"/>
              </a:rPr>
              <a:t>Haversine distance between
consecutive transactions
Threshold: &gt;100 km in &lt;60 min
Catches cloned cards used
simultaneously at distance.
Flags: geographic impossibility
Uses exact lat/long of each ATM.</a:t>
            </a:r>
          </a:p>
        </p:txBody>
      </p:sp>
      <p:sp>
        <p:nvSpPr>
          <p:cNvPr id="13" name="Rectangle 12"/>
          <p:cNvSpPr/>
          <p:nvPr/>
        </p:nvSpPr>
        <p:spPr>
          <a:xfrm>
            <a:off x="429768" y="6400800"/>
            <a:ext cx="11329416" cy="32004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 y="6400800"/>
            <a:ext cx="11329416" cy="320040"/>
          </a:xfrm>
          <a:prstGeom prst="rect">
            <a:avLst/>
          </a:prstGeom>
          <a:noFill/>
        </p:spPr>
        <p:txBody>
          <a:bodyPr wrap="square">
            <a:spAutoFit/>
          </a:bodyPr>
          <a:lstStyle/>
          <a:p>
            <a:pPr algn="ctr"/>
            <a:r>
              <a:rPr sz="1000" b="0" i="0">
                <a:solidFill>
                  <a:srgbClr val="000000"/>
                </a:solidFill>
                <a:latin typeface="Calibri"/>
              </a:rPr>
              <a:t>All 3 heuristics run as background threads.  Result: AnomalyFlag created, ATM status updated, engineer alerted — in under 1 second.</a:t>
            </a:r>
          </a:p>
        </p:txBody>
      </p:sp>
      <p:sp>
        <p:nvSpPr>
          <p:cNvPr id="15" name="TextBox 14"/>
          <p:cNvSpPr txBox="1"/>
          <p:nvPr/>
        </p:nvSpPr>
        <p:spPr>
          <a:xfrm>
            <a:off x="11183112" y="6537960"/>
            <a:ext cx="914400" cy="274320"/>
          </a:xfrm>
          <a:prstGeom prst="rect">
            <a:avLst/>
          </a:prstGeom>
          <a:noFill/>
        </p:spPr>
        <p:txBody>
          <a:bodyPr wrap="square">
            <a:spAutoFit/>
          </a:bodyPr>
          <a:lstStyle/>
          <a:p>
            <a:pPr algn="r"/>
            <a:r>
              <a:rPr sz="1000" b="0" i="0">
                <a:solidFill>
                  <a:srgbClr val="808080"/>
                </a:solidFill>
                <a:latin typeface="Calibri"/>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228600"/>
            <a:ext cx="11329416" cy="502920"/>
          </a:xfrm>
          <a:prstGeom prst="rect">
            <a:avLst/>
          </a:prstGeom>
          <a:noFill/>
        </p:spPr>
        <p:txBody>
          <a:bodyPr wrap="square">
            <a:spAutoFit/>
          </a:bodyPr>
          <a:lstStyle/>
          <a:p>
            <a:pPr algn="l"/>
            <a:r>
              <a:rPr sz="3000" b="1" i="0">
                <a:solidFill>
                  <a:srgbClr val="000000"/>
                </a:solidFill>
                <a:latin typeface="Calibri"/>
              </a:rPr>
              <a:t>What You'll See in the Demo</a:t>
            </a:r>
          </a:p>
        </p:txBody>
      </p:sp>
      <p:sp>
        <p:nvSpPr>
          <p:cNvPr id="3" name="Rectangle 2"/>
          <p:cNvSpPr/>
          <p:nvPr/>
        </p:nvSpPr>
        <p:spPr>
          <a:xfrm>
            <a:off x="429768" y="777240"/>
            <a:ext cx="11329416"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9768" y="960120"/>
            <a:ext cx="5390388" cy="205740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9496" y="1051560"/>
            <a:ext cx="5170932" cy="347472"/>
          </a:xfrm>
          <a:prstGeom prst="rect">
            <a:avLst/>
          </a:prstGeom>
          <a:noFill/>
        </p:spPr>
        <p:txBody>
          <a:bodyPr wrap="square">
            <a:spAutoFit/>
          </a:bodyPr>
          <a:lstStyle/>
          <a:p>
            <a:pPr algn="l"/>
            <a:r>
              <a:rPr sz="1400" b="1" i="0">
                <a:solidFill>
                  <a:srgbClr val="000000"/>
                </a:solidFill>
                <a:latin typeface="Calibri"/>
              </a:rPr>
              <a:t>1. Trigger a Failure</a:t>
            </a:r>
          </a:p>
        </p:txBody>
      </p:sp>
      <p:sp>
        <p:nvSpPr>
          <p:cNvPr id="6" name="TextBox 5"/>
          <p:cNvSpPr txBox="1"/>
          <p:nvPr/>
        </p:nvSpPr>
        <p:spPr>
          <a:xfrm>
            <a:off x="539496" y="1399032"/>
            <a:ext cx="5170932" cy="1527048"/>
          </a:xfrm>
          <a:prstGeom prst="rect">
            <a:avLst/>
          </a:prstGeom>
          <a:noFill/>
        </p:spPr>
        <p:txBody>
          <a:bodyPr wrap="square">
            <a:spAutoFit/>
          </a:bodyPr>
          <a:lstStyle/>
          <a:p>
            <a:pPr algn="l"/>
            <a:r>
              <a:rPr sz="1200" b="0" i="0">
                <a:solidFill>
                  <a:srgbClr val="000000"/>
                </a:solidFill>
                <a:latin typeface="Calibri"/>
              </a:rPr>
              <a:t>POST /api/logs/ingest/ with event code CASH_DISPENSE_FAIL.
Raw log entry created in the database.</a:t>
            </a:r>
          </a:p>
        </p:txBody>
      </p:sp>
      <p:sp>
        <p:nvSpPr>
          <p:cNvPr id="7" name="Rectangle 6"/>
          <p:cNvSpPr/>
          <p:nvPr/>
        </p:nvSpPr>
        <p:spPr>
          <a:xfrm>
            <a:off x="6003036" y="960120"/>
            <a:ext cx="5390388" cy="205740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12764" y="1051560"/>
            <a:ext cx="5170932" cy="347472"/>
          </a:xfrm>
          <a:prstGeom prst="rect">
            <a:avLst/>
          </a:prstGeom>
          <a:noFill/>
        </p:spPr>
        <p:txBody>
          <a:bodyPr wrap="square">
            <a:spAutoFit/>
          </a:bodyPr>
          <a:lstStyle/>
          <a:p>
            <a:pPr algn="l"/>
            <a:r>
              <a:rPr sz="1400" b="1" i="0">
                <a:solidFill>
                  <a:srgbClr val="000000"/>
                </a:solidFill>
                <a:latin typeface="Calibri"/>
              </a:rPr>
              <a:t>2. Watch the Pipeline</a:t>
            </a:r>
          </a:p>
        </p:txBody>
      </p:sp>
      <p:sp>
        <p:nvSpPr>
          <p:cNvPr id="9" name="TextBox 8"/>
          <p:cNvSpPr txBox="1"/>
          <p:nvPr/>
        </p:nvSpPr>
        <p:spPr>
          <a:xfrm>
            <a:off x="6112764" y="1399032"/>
            <a:ext cx="5170932" cy="1527048"/>
          </a:xfrm>
          <a:prstGeom prst="rect">
            <a:avLst/>
          </a:prstGeom>
          <a:noFill/>
        </p:spPr>
        <p:txBody>
          <a:bodyPr wrap="square">
            <a:spAutoFit/>
          </a:bodyPr>
          <a:lstStyle/>
          <a:p>
            <a:pPr algn="l"/>
            <a:r>
              <a:rPr sz="1200" b="0" i="0">
                <a:solidFill>
                  <a:srgbClr val="000000"/>
                </a:solidFill>
                <a:latin typeface="Calibri"/>
              </a:rPr>
              <a:t>Log saved  →  AI Classifier fires  →  Incident created as CASH_JAM
→  Health score recalculated  →  Self-heal action selected
→  Dashboard updates via WebSocket  (no page refresh)</a:t>
            </a:r>
          </a:p>
        </p:txBody>
      </p:sp>
      <p:sp>
        <p:nvSpPr>
          <p:cNvPr id="10" name="Rectangle 9"/>
          <p:cNvSpPr/>
          <p:nvPr/>
        </p:nvSpPr>
        <p:spPr>
          <a:xfrm>
            <a:off x="429768" y="3200400"/>
            <a:ext cx="5390388" cy="205740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9496" y="3291840"/>
            <a:ext cx="5170932" cy="347472"/>
          </a:xfrm>
          <a:prstGeom prst="rect">
            <a:avLst/>
          </a:prstGeom>
          <a:noFill/>
        </p:spPr>
        <p:txBody>
          <a:bodyPr wrap="square">
            <a:spAutoFit/>
          </a:bodyPr>
          <a:lstStyle/>
          <a:p>
            <a:pPr algn="l"/>
            <a:r>
              <a:rPr sz="1400" b="1" i="0">
                <a:solidFill>
                  <a:srgbClr val="000000"/>
                </a:solidFill>
                <a:latin typeface="Calibri"/>
              </a:rPr>
              <a:t>3. Customer Portal</a:t>
            </a:r>
          </a:p>
        </p:txBody>
      </p:sp>
      <p:sp>
        <p:nvSpPr>
          <p:cNvPr id="12" name="TextBox 11"/>
          <p:cNvSpPr txBox="1"/>
          <p:nvPr/>
        </p:nvSpPr>
        <p:spPr>
          <a:xfrm>
            <a:off x="539496" y="3639312"/>
            <a:ext cx="5170932" cy="1527048"/>
          </a:xfrm>
          <a:prstGeom prst="rect">
            <a:avLst/>
          </a:prstGeom>
          <a:noFill/>
        </p:spPr>
        <p:txBody>
          <a:bodyPr wrap="square">
            <a:spAutoFit/>
          </a:bodyPr>
          <a:lstStyle/>
          <a:p>
            <a:pPr algn="l"/>
            <a:r>
              <a:rPr sz="1200" b="0" i="0">
                <a:solidFill>
                  <a:srgbClr val="000000"/>
                </a:solidFill>
                <a:latin typeface="Calibri"/>
              </a:rPr>
              <a:t>Enter phone  →  OTP  →  See failed transaction
Status: DETECTED  →  live advance to INVESTIGATING
→  ENGINEER DISPATCHED  (all via WebSocket push)</a:t>
            </a:r>
          </a:p>
        </p:txBody>
      </p:sp>
      <p:sp>
        <p:nvSpPr>
          <p:cNvPr id="13" name="Rectangle 12"/>
          <p:cNvSpPr/>
          <p:nvPr/>
        </p:nvSpPr>
        <p:spPr>
          <a:xfrm>
            <a:off x="6003036" y="3200400"/>
            <a:ext cx="5390388" cy="205740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12764" y="3291840"/>
            <a:ext cx="5170932" cy="347472"/>
          </a:xfrm>
          <a:prstGeom prst="rect">
            <a:avLst/>
          </a:prstGeom>
          <a:noFill/>
        </p:spPr>
        <p:txBody>
          <a:bodyPr wrap="square">
            <a:spAutoFit/>
          </a:bodyPr>
          <a:lstStyle/>
          <a:p>
            <a:pPr algn="l"/>
            <a:r>
              <a:rPr sz="1400" b="1" i="0">
                <a:solidFill>
                  <a:srgbClr val="000000"/>
                </a:solidFill>
                <a:latin typeface="Calibri"/>
              </a:rPr>
              <a:t>4. Fraud Scenario</a:t>
            </a:r>
          </a:p>
        </p:txBody>
      </p:sp>
      <p:sp>
        <p:nvSpPr>
          <p:cNvPr id="15" name="TextBox 14"/>
          <p:cNvSpPr txBox="1"/>
          <p:nvPr/>
        </p:nvSpPr>
        <p:spPr>
          <a:xfrm>
            <a:off x="6112764" y="3639312"/>
            <a:ext cx="5170932" cy="1527048"/>
          </a:xfrm>
          <a:prstGeom prst="rect">
            <a:avLst/>
          </a:prstGeom>
          <a:noFill/>
        </p:spPr>
        <p:txBody>
          <a:bodyPr wrap="square">
            <a:spAutoFit/>
          </a:bodyPr>
          <a:lstStyle/>
          <a:p>
            <a:pPr algn="l"/>
            <a:r>
              <a:rPr sz="1200" b="0" i="0">
                <a:solidFill>
                  <a:srgbClr val="000000"/>
                </a:solidFill>
                <a:latin typeface="Calibri"/>
              </a:rPr>
              <a:t>3 rapid withdrawals from same card  (within 60 seconds)
→  Velocity heuristic fires  →  RAPID_FAILURES flag
→  ATM status: UNDER_REVIEW  →  AnomalyFlag on dashboard</a:t>
            </a:r>
          </a:p>
        </p:txBody>
      </p:sp>
      <p:sp>
        <p:nvSpPr>
          <p:cNvPr id="16" name="Rectangle 15"/>
          <p:cNvSpPr/>
          <p:nvPr/>
        </p:nvSpPr>
        <p:spPr>
          <a:xfrm>
            <a:off x="429768" y="6400800"/>
            <a:ext cx="11329416" cy="32004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 y="6400800"/>
            <a:ext cx="11329416" cy="320040"/>
          </a:xfrm>
          <a:prstGeom prst="rect">
            <a:avLst/>
          </a:prstGeom>
          <a:noFill/>
        </p:spPr>
        <p:txBody>
          <a:bodyPr wrap="square">
            <a:spAutoFit/>
          </a:bodyPr>
          <a:lstStyle/>
          <a:p>
            <a:pPr algn="ctr"/>
            <a:r>
              <a:rPr sz="1000" b="0" i="0">
                <a:solidFill>
                  <a:srgbClr val="000000"/>
                </a:solidFill>
                <a:latin typeface="Calibri"/>
              </a:rPr>
              <a:t>Fully working end-to-end.  No mocks.  No slides pretending to be a product.</a:t>
            </a:r>
          </a:p>
        </p:txBody>
      </p:sp>
      <p:sp>
        <p:nvSpPr>
          <p:cNvPr id="18" name="TextBox 17"/>
          <p:cNvSpPr txBox="1"/>
          <p:nvPr/>
        </p:nvSpPr>
        <p:spPr>
          <a:xfrm>
            <a:off x="11183112" y="6537960"/>
            <a:ext cx="914400" cy="274320"/>
          </a:xfrm>
          <a:prstGeom prst="rect">
            <a:avLst/>
          </a:prstGeom>
          <a:noFill/>
        </p:spPr>
        <p:txBody>
          <a:bodyPr wrap="square">
            <a:spAutoFit/>
          </a:bodyPr>
          <a:lstStyle/>
          <a:p>
            <a:pPr algn="r"/>
            <a:r>
              <a:rPr sz="1000" b="0" i="0">
                <a:solidFill>
                  <a:srgbClr val="808080"/>
                </a:solidFill>
                <a:latin typeface="Calibri"/>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228600"/>
            <a:ext cx="11329416" cy="502920"/>
          </a:xfrm>
          <a:prstGeom prst="rect">
            <a:avLst/>
          </a:prstGeom>
          <a:noFill/>
        </p:spPr>
        <p:txBody>
          <a:bodyPr wrap="square">
            <a:spAutoFit/>
          </a:bodyPr>
          <a:lstStyle/>
          <a:p>
            <a:pPr algn="l"/>
            <a:r>
              <a:rPr sz="3000" b="1" i="0">
                <a:solidFill>
                  <a:srgbClr val="000000"/>
                </a:solidFill>
                <a:latin typeface="Calibri"/>
              </a:rPr>
              <a:t>Six Things No One Else Has Built</a:t>
            </a:r>
          </a:p>
        </p:txBody>
      </p:sp>
      <p:sp>
        <p:nvSpPr>
          <p:cNvPr id="3" name="Rectangle 2"/>
          <p:cNvSpPr/>
          <p:nvPr/>
        </p:nvSpPr>
        <p:spPr>
          <a:xfrm>
            <a:off x="429768" y="777240"/>
            <a:ext cx="11329416"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9768" y="960120"/>
            <a:ext cx="5527548" cy="132588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9496" y="1069848"/>
            <a:ext cx="347472" cy="3474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9496" y="1051560"/>
            <a:ext cx="347472" cy="347472"/>
          </a:xfrm>
          <a:prstGeom prst="rect">
            <a:avLst/>
          </a:prstGeom>
          <a:noFill/>
        </p:spPr>
        <p:txBody>
          <a:bodyPr wrap="square">
            <a:spAutoFit/>
          </a:bodyPr>
          <a:lstStyle/>
          <a:p>
            <a:pPr algn="ctr"/>
            <a:r>
              <a:rPr sz="1600" b="1" i="0">
                <a:solidFill>
                  <a:srgbClr val="FFFFFF"/>
                </a:solidFill>
                <a:latin typeface="Calibri"/>
              </a:rPr>
              <a:t>1</a:t>
            </a:r>
          </a:p>
        </p:txBody>
      </p:sp>
      <p:sp>
        <p:nvSpPr>
          <p:cNvPr id="7" name="TextBox 6"/>
          <p:cNvSpPr txBox="1"/>
          <p:nvPr/>
        </p:nvSpPr>
        <p:spPr>
          <a:xfrm>
            <a:off x="996696" y="1051560"/>
            <a:ext cx="4850892" cy="384048"/>
          </a:xfrm>
          <a:prstGeom prst="rect">
            <a:avLst/>
          </a:prstGeom>
          <a:noFill/>
        </p:spPr>
        <p:txBody>
          <a:bodyPr wrap="square">
            <a:spAutoFit/>
          </a:bodyPr>
          <a:lstStyle/>
          <a:p>
            <a:pPr algn="l"/>
            <a:r>
              <a:rPr sz="1300" b="1" i="0">
                <a:solidFill>
                  <a:srgbClr val="000000"/>
                </a:solidFill>
                <a:latin typeface="Calibri"/>
              </a:rPr>
              <a:t>Customer-facing real-time ATM incident portal</a:t>
            </a:r>
          </a:p>
        </p:txBody>
      </p:sp>
      <p:sp>
        <p:nvSpPr>
          <p:cNvPr id="8" name="TextBox 7"/>
          <p:cNvSpPr txBox="1"/>
          <p:nvPr/>
        </p:nvSpPr>
        <p:spPr>
          <a:xfrm>
            <a:off x="996696" y="1435608"/>
            <a:ext cx="4850892" cy="758952"/>
          </a:xfrm>
          <a:prstGeom prst="rect">
            <a:avLst/>
          </a:prstGeom>
          <a:noFill/>
        </p:spPr>
        <p:txBody>
          <a:bodyPr wrap="square">
            <a:spAutoFit/>
          </a:bodyPr>
          <a:lstStyle/>
          <a:p>
            <a:pPr algn="l"/>
            <a:r>
              <a:rPr sz="1100" b="0" i="0">
                <a:solidFill>
                  <a:srgbClr val="000000"/>
                </a:solidFill>
                <a:latin typeface="Calibri"/>
              </a:rPr>
              <a:t>First of its kind in India. Banks have internal dashboards. Customers have nothing. Until now.</a:t>
            </a:r>
          </a:p>
        </p:txBody>
      </p:sp>
      <p:sp>
        <p:nvSpPr>
          <p:cNvPr id="9" name="Rectangle 8"/>
          <p:cNvSpPr/>
          <p:nvPr/>
        </p:nvSpPr>
        <p:spPr>
          <a:xfrm>
            <a:off x="6231636" y="960120"/>
            <a:ext cx="5527548" cy="132588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41364" y="1069848"/>
            <a:ext cx="347472" cy="3474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1364" y="1051560"/>
            <a:ext cx="347472" cy="347472"/>
          </a:xfrm>
          <a:prstGeom prst="rect">
            <a:avLst/>
          </a:prstGeom>
          <a:noFill/>
        </p:spPr>
        <p:txBody>
          <a:bodyPr wrap="square">
            <a:spAutoFit/>
          </a:bodyPr>
          <a:lstStyle/>
          <a:p>
            <a:pPr algn="ctr"/>
            <a:r>
              <a:rPr sz="1600" b="1" i="0">
                <a:solidFill>
                  <a:srgbClr val="FFFFFF"/>
                </a:solidFill>
                <a:latin typeface="Calibri"/>
              </a:rPr>
              <a:t>2</a:t>
            </a:r>
          </a:p>
        </p:txBody>
      </p:sp>
      <p:sp>
        <p:nvSpPr>
          <p:cNvPr id="12" name="TextBox 11"/>
          <p:cNvSpPr txBox="1"/>
          <p:nvPr/>
        </p:nvSpPr>
        <p:spPr>
          <a:xfrm>
            <a:off x="6798564" y="1051560"/>
            <a:ext cx="4850892" cy="384048"/>
          </a:xfrm>
          <a:prstGeom prst="rect">
            <a:avLst/>
          </a:prstGeom>
          <a:noFill/>
        </p:spPr>
        <p:txBody>
          <a:bodyPr wrap="square">
            <a:spAutoFit/>
          </a:bodyPr>
          <a:lstStyle/>
          <a:p>
            <a:pPr algn="l"/>
            <a:r>
              <a:rPr sz="1300" b="1" i="0">
                <a:solidFill>
                  <a:srgbClr val="000000"/>
                </a:solidFill>
                <a:latin typeface="Calibri"/>
              </a:rPr>
              <a:t>Impossible travel fraud detection (Haversine)</a:t>
            </a:r>
          </a:p>
        </p:txBody>
      </p:sp>
      <p:sp>
        <p:nvSpPr>
          <p:cNvPr id="13" name="TextBox 12"/>
          <p:cNvSpPr txBox="1"/>
          <p:nvPr/>
        </p:nvSpPr>
        <p:spPr>
          <a:xfrm>
            <a:off x="6798564" y="1435608"/>
            <a:ext cx="4850892" cy="758952"/>
          </a:xfrm>
          <a:prstGeom prst="rect">
            <a:avLst/>
          </a:prstGeom>
          <a:noFill/>
        </p:spPr>
        <p:txBody>
          <a:bodyPr wrap="square">
            <a:spAutoFit/>
          </a:bodyPr>
          <a:lstStyle/>
          <a:p>
            <a:pPr algn="l"/>
            <a:r>
              <a:rPr sz="1100" b="0" i="0">
                <a:solidFill>
                  <a:srgbClr val="000000"/>
                </a:solidFill>
                <a:latin typeface="Calibri"/>
              </a:rPr>
              <a:t>Real-time Haversine distance check flags cloned cards used &gt;100 km apart in &lt;60 min.</a:t>
            </a:r>
          </a:p>
        </p:txBody>
      </p:sp>
      <p:sp>
        <p:nvSpPr>
          <p:cNvPr id="14" name="Rectangle 13"/>
          <p:cNvSpPr/>
          <p:nvPr/>
        </p:nvSpPr>
        <p:spPr>
          <a:xfrm>
            <a:off x="429768" y="2423160"/>
            <a:ext cx="5527548" cy="132588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9496" y="2532888"/>
            <a:ext cx="347472" cy="3474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 y="2514600"/>
            <a:ext cx="347472" cy="347472"/>
          </a:xfrm>
          <a:prstGeom prst="rect">
            <a:avLst/>
          </a:prstGeom>
          <a:noFill/>
        </p:spPr>
        <p:txBody>
          <a:bodyPr wrap="square">
            <a:spAutoFit/>
          </a:bodyPr>
          <a:lstStyle/>
          <a:p>
            <a:pPr algn="ctr"/>
            <a:r>
              <a:rPr sz="1600" b="1" i="0">
                <a:solidFill>
                  <a:srgbClr val="FFFFFF"/>
                </a:solidFill>
                <a:latin typeface="Calibri"/>
              </a:rPr>
              <a:t>3</a:t>
            </a:r>
          </a:p>
        </p:txBody>
      </p:sp>
      <p:sp>
        <p:nvSpPr>
          <p:cNvPr id="17" name="TextBox 16"/>
          <p:cNvSpPr txBox="1"/>
          <p:nvPr/>
        </p:nvSpPr>
        <p:spPr>
          <a:xfrm>
            <a:off x="996696" y="2514600"/>
            <a:ext cx="4850892" cy="384048"/>
          </a:xfrm>
          <a:prstGeom prst="rect">
            <a:avLst/>
          </a:prstGeom>
          <a:noFill/>
        </p:spPr>
        <p:txBody>
          <a:bodyPr wrap="square">
            <a:spAutoFit/>
          </a:bodyPr>
          <a:lstStyle/>
          <a:p>
            <a:pPr algn="l"/>
            <a:r>
              <a:rPr sz="1300" b="1" i="0">
                <a:solidFill>
                  <a:srgbClr val="000000"/>
                </a:solidFill>
                <a:latin typeface="Calibri"/>
              </a:rPr>
              <a:t>Autonomous self-healing for 4 failure categories</a:t>
            </a:r>
          </a:p>
        </p:txBody>
      </p:sp>
      <p:sp>
        <p:nvSpPr>
          <p:cNvPr id="18" name="TextBox 17"/>
          <p:cNvSpPr txBox="1"/>
          <p:nvPr/>
        </p:nvSpPr>
        <p:spPr>
          <a:xfrm>
            <a:off x="996696" y="2898648"/>
            <a:ext cx="4850892" cy="758952"/>
          </a:xfrm>
          <a:prstGeom prst="rect">
            <a:avLst/>
          </a:prstGeom>
          <a:noFill/>
        </p:spPr>
        <p:txBody>
          <a:bodyPr wrap="square">
            <a:spAutoFit/>
          </a:bodyPr>
          <a:lstStyle/>
          <a:p>
            <a:pPr algn="l"/>
            <a:r>
              <a:rPr sz="1100" b="0" i="0">
                <a:solidFill>
                  <a:srgbClr val="000000"/>
                </a:solidFill>
                <a:latin typeface="Calibri"/>
              </a:rPr>
              <a:t>SWITCH_NETWORK, RESTART_SERVICE, FLUSH_CACHE — auto-resolved in under 2 minutes.</a:t>
            </a:r>
          </a:p>
        </p:txBody>
      </p:sp>
      <p:sp>
        <p:nvSpPr>
          <p:cNvPr id="19" name="Rectangle 18"/>
          <p:cNvSpPr/>
          <p:nvPr/>
        </p:nvSpPr>
        <p:spPr>
          <a:xfrm>
            <a:off x="6231636" y="2423160"/>
            <a:ext cx="5527548" cy="132588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41364" y="2532888"/>
            <a:ext cx="347472" cy="3474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1364" y="2514600"/>
            <a:ext cx="347472" cy="347472"/>
          </a:xfrm>
          <a:prstGeom prst="rect">
            <a:avLst/>
          </a:prstGeom>
          <a:noFill/>
        </p:spPr>
        <p:txBody>
          <a:bodyPr wrap="square">
            <a:spAutoFit/>
          </a:bodyPr>
          <a:lstStyle/>
          <a:p>
            <a:pPr algn="ctr"/>
            <a:r>
              <a:rPr sz="1600" b="1" i="0">
                <a:solidFill>
                  <a:srgbClr val="FFFFFF"/>
                </a:solidFill>
                <a:latin typeface="Calibri"/>
              </a:rPr>
              <a:t>4</a:t>
            </a:r>
          </a:p>
        </p:txBody>
      </p:sp>
      <p:sp>
        <p:nvSpPr>
          <p:cNvPr id="22" name="TextBox 21"/>
          <p:cNvSpPr txBox="1"/>
          <p:nvPr/>
        </p:nvSpPr>
        <p:spPr>
          <a:xfrm>
            <a:off x="6798564" y="2514600"/>
            <a:ext cx="4850892" cy="384048"/>
          </a:xfrm>
          <a:prstGeom prst="rect">
            <a:avLst/>
          </a:prstGeom>
          <a:noFill/>
        </p:spPr>
        <p:txBody>
          <a:bodyPr wrap="square">
            <a:spAutoFit/>
          </a:bodyPr>
          <a:lstStyle/>
          <a:p>
            <a:pPr algn="l"/>
            <a:r>
              <a:rPr sz="1300" b="1" i="0">
                <a:solidFill>
                  <a:srgbClr val="000000"/>
                </a:solidFill>
                <a:latin typeface="Calibri"/>
              </a:rPr>
              <a:t>Bilingual WebSocket portal with exponential backoff</a:t>
            </a:r>
          </a:p>
        </p:txBody>
      </p:sp>
      <p:sp>
        <p:nvSpPr>
          <p:cNvPr id="23" name="TextBox 22"/>
          <p:cNvSpPr txBox="1"/>
          <p:nvPr/>
        </p:nvSpPr>
        <p:spPr>
          <a:xfrm>
            <a:off x="6798564" y="2898648"/>
            <a:ext cx="4850892" cy="758952"/>
          </a:xfrm>
          <a:prstGeom prst="rect">
            <a:avLst/>
          </a:prstGeom>
          <a:noFill/>
        </p:spPr>
        <p:txBody>
          <a:bodyPr wrap="square">
            <a:spAutoFit/>
          </a:bodyPr>
          <a:lstStyle/>
          <a:p>
            <a:pPr algn="l"/>
            <a:r>
              <a:rPr sz="1100" b="0" i="0">
                <a:solidFill>
                  <a:srgbClr val="000000"/>
                </a:solidFill>
                <a:latin typeface="Calibri"/>
              </a:rPr>
              <a:t>English + Hindi live updates designed for Indian 2G/3G network conditions.</a:t>
            </a:r>
          </a:p>
        </p:txBody>
      </p:sp>
      <p:sp>
        <p:nvSpPr>
          <p:cNvPr id="24" name="Rectangle 23"/>
          <p:cNvSpPr/>
          <p:nvPr/>
        </p:nvSpPr>
        <p:spPr>
          <a:xfrm>
            <a:off x="429768" y="3886200"/>
            <a:ext cx="5527548" cy="132588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39496" y="3995928"/>
            <a:ext cx="347472" cy="3474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9496" y="3977640"/>
            <a:ext cx="347472" cy="347472"/>
          </a:xfrm>
          <a:prstGeom prst="rect">
            <a:avLst/>
          </a:prstGeom>
          <a:noFill/>
        </p:spPr>
        <p:txBody>
          <a:bodyPr wrap="square">
            <a:spAutoFit/>
          </a:bodyPr>
          <a:lstStyle/>
          <a:p>
            <a:pPr algn="ctr"/>
            <a:r>
              <a:rPr sz="1600" b="1" i="0">
                <a:solidFill>
                  <a:srgbClr val="FFFFFF"/>
                </a:solidFill>
                <a:latin typeface="Calibri"/>
              </a:rPr>
              <a:t>5</a:t>
            </a:r>
          </a:p>
        </p:txBody>
      </p:sp>
      <p:sp>
        <p:nvSpPr>
          <p:cNvPr id="27" name="TextBox 26"/>
          <p:cNvSpPr txBox="1"/>
          <p:nvPr/>
        </p:nvSpPr>
        <p:spPr>
          <a:xfrm>
            <a:off x="996696" y="3977640"/>
            <a:ext cx="4850892" cy="384048"/>
          </a:xfrm>
          <a:prstGeom prst="rect">
            <a:avLst/>
          </a:prstGeom>
          <a:noFill/>
        </p:spPr>
        <p:txBody>
          <a:bodyPr wrap="square">
            <a:spAutoFit/>
          </a:bodyPr>
          <a:lstStyle/>
          <a:p>
            <a:pPr algn="l"/>
            <a:r>
              <a:rPr sz="1300" b="1" i="0">
                <a:solidFill>
                  <a:srgbClr val="000000"/>
                </a:solidFill>
                <a:latin typeface="Calibri"/>
              </a:rPr>
              <a:t>RBI + DPDP Act 2023 compliance by design</a:t>
            </a:r>
          </a:p>
        </p:txBody>
      </p:sp>
      <p:sp>
        <p:nvSpPr>
          <p:cNvPr id="28" name="TextBox 27"/>
          <p:cNvSpPr txBox="1"/>
          <p:nvPr/>
        </p:nvSpPr>
        <p:spPr>
          <a:xfrm>
            <a:off x="996696" y="4361688"/>
            <a:ext cx="4850892" cy="758952"/>
          </a:xfrm>
          <a:prstGeom prst="rect">
            <a:avLst/>
          </a:prstGeom>
          <a:noFill/>
        </p:spPr>
        <p:txBody>
          <a:bodyPr wrap="square">
            <a:spAutoFit/>
          </a:bodyPr>
          <a:lstStyle/>
          <a:p>
            <a:pPr algn="l"/>
            <a:r>
              <a:rPr sz="1100" b="0" i="0">
                <a:solidFill>
                  <a:srgbClr val="000000"/>
                </a:solidFill>
                <a:latin typeface="Calibri"/>
              </a:rPr>
              <a:t>SHA-256 phone hashing, RBI refund timeline messaging, DPDP-compliant data model.</a:t>
            </a:r>
          </a:p>
        </p:txBody>
      </p:sp>
      <p:sp>
        <p:nvSpPr>
          <p:cNvPr id="29" name="Rectangle 28"/>
          <p:cNvSpPr/>
          <p:nvPr/>
        </p:nvSpPr>
        <p:spPr>
          <a:xfrm>
            <a:off x="6231636" y="3886200"/>
            <a:ext cx="5527548" cy="1325880"/>
          </a:xfrm>
          <a:prstGeom prst="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41364" y="3995928"/>
            <a:ext cx="347472" cy="3474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41364" y="3977640"/>
            <a:ext cx="347472" cy="347472"/>
          </a:xfrm>
          <a:prstGeom prst="rect">
            <a:avLst/>
          </a:prstGeom>
          <a:noFill/>
        </p:spPr>
        <p:txBody>
          <a:bodyPr wrap="square">
            <a:spAutoFit/>
          </a:bodyPr>
          <a:lstStyle/>
          <a:p>
            <a:pPr algn="ctr"/>
            <a:r>
              <a:rPr sz="1600" b="1" i="0">
                <a:solidFill>
                  <a:srgbClr val="FFFFFF"/>
                </a:solidFill>
                <a:latin typeface="Calibri"/>
              </a:rPr>
              <a:t>6</a:t>
            </a:r>
          </a:p>
        </p:txBody>
      </p:sp>
      <p:sp>
        <p:nvSpPr>
          <p:cNvPr id="32" name="TextBox 31"/>
          <p:cNvSpPr txBox="1"/>
          <p:nvPr/>
        </p:nvSpPr>
        <p:spPr>
          <a:xfrm>
            <a:off x="6798564" y="3977640"/>
            <a:ext cx="4850892" cy="384048"/>
          </a:xfrm>
          <a:prstGeom prst="rect">
            <a:avLst/>
          </a:prstGeom>
          <a:noFill/>
        </p:spPr>
        <p:txBody>
          <a:bodyPr wrap="square">
            <a:spAutoFit/>
          </a:bodyPr>
          <a:lstStyle/>
          <a:p>
            <a:pPr algn="l"/>
            <a:r>
              <a:rPr sz="1300" b="1" i="0">
                <a:solidFill>
                  <a:srgbClr val="000000"/>
                </a:solidFill>
                <a:latin typeface="Calibri"/>
              </a:rPr>
              <a:t>Full stack in one hackathon</a:t>
            </a:r>
          </a:p>
        </p:txBody>
      </p:sp>
      <p:sp>
        <p:nvSpPr>
          <p:cNvPr id="33" name="TextBox 32"/>
          <p:cNvSpPr txBox="1"/>
          <p:nvPr/>
        </p:nvSpPr>
        <p:spPr>
          <a:xfrm>
            <a:off x="6798564" y="4361688"/>
            <a:ext cx="4850892" cy="758952"/>
          </a:xfrm>
          <a:prstGeom prst="rect">
            <a:avLst/>
          </a:prstGeom>
          <a:noFill/>
        </p:spPr>
        <p:txBody>
          <a:bodyPr wrap="square">
            <a:spAutoFit/>
          </a:bodyPr>
          <a:lstStyle/>
          <a:p>
            <a:pPr algn="l"/>
            <a:r>
              <a:rPr sz="1100" b="0" i="0">
                <a:solidFill>
                  <a:srgbClr val="000000"/>
                </a:solidFill>
                <a:latin typeface="Calibri"/>
              </a:rPr>
              <a:t>AI + WebSocket + OTP auth + SMS deep-link + fraud detection + bilingual UX — all integrated.</a:t>
            </a:r>
          </a:p>
        </p:txBody>
      </p:sp>
      <p:sp>
        <p:nvSpPr>
          <p:cNvPr id="34" name="Rectangle 33"/>
          <p:cNvSpPr/>
          <p:nvPr/>
        </p:nvSpPr>
        <p:spPr>
          <a:xfrm>
            <a:off x="429768" y="6400800"/>
            <a:ext cx="11329416" cy="38404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9768" y="6400800"/>
            <a:ext cx="11329416" cy="384048"/>
          </a:xfrm>
          <a:prstGeom prst="rect">
            <a:avLst/>
          </a:prstGeom>
          <a:noFill/>
        </p:spPr>
        <p:txBody>
          <a:bodyPr wrap="square">
            <a:spAutoFit/>
          </a:bodyPr>
          <a:lstStyle/>
          <a:p>
            <a:pPr algn="ctr"/>
            <a:r>
              <a:rPr sz="1200" b="1" i="0">
                <a:solidFill>
                  <a:srgbClr val="FFFFFF"/>
                </a:solidFill>
                <a:latin typeface="Calibri"/>
              </a:rPr>
              <a:t>PayGuard  |  Django 6  ·  React 19  ·  FastAPI  ·  Django Channels  |  March 2026</a:t>
            </a:r>
          </a:p>
        </p:txBody>
      </p:sp>
      <p:sp>
        <p:nvSpPr>
          <p:cNvPr id="36" name="TextBox 35"/>
          <p:cNvSpPr txBox="1"/>
          <p:nvPr/>
        </p:nvSpPr>
        <p:spPr>
          <a:xfrm>
            <a:off x="11183112" y="6537960"/>
            <a:ext cx="914400" cy="274320"/>
          </a:xfrm>
          <a:prstGeom prst="rect">
            <a:avLst/>
          </a:prstGeom>
          <a:noFill/>
        </p:spPr>
        <p:txBody>
          <a:bodyPr wrap="square">
            <a:spAutoFit/>
          </a:bodyPr>
          <a:lstStyle/>
          <a:p>
            <a:pPr algn="r"/>
            <a:r>
              <a:rPr sz="1000" b="0" i="0">
                <a:solidFill>
                  <a:srgbClr val="808080"/>
                </a:solidFill>
                <a:latin typeface="Calibri"/>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